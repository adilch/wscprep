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4" d="100"/>
          <a:sy n="104" d="100"/>
        </p:scale>
        <p:origin x="288" y="6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dil Javed" userId="2d8c09a4c044a8f9" providerId="LiveId" clId="{DCBCE39E-3C48-43BE-A82E-195FA87AFF52}"/>
    <pc:docChg chg="custSel modSld">
      <pc:chgData name="Adil Javed" userId="2d8c09a4c044a8f9" providerId="LiveId" clId="{DCBCE39E-3C48-43BE-A82E-195FA87AFF52}" dt="2026-06-07T07:23:04.354" v="18" actId="1076"/>
      <pc:docMkLst>
        <pc:docMk/>
      </pc:docMkLst>
      <pc:sldChg chg="addSp modSp mod">
        <pc:chgData name="Adil Javed" userId="2d8c09a4c044a8f9" providerId="LiveId" clId="{DCBCE39E-3C48-43BE-A82E-195FA87AFF52}" dt="2026-06-07T07:23:04.354" v="18" actId="1076"/>
        <pc:sldMkLst>
          <pc:docMk/>
          <pc:sldMk cId="0" sldId="256"/>
        </pc:sldMkLst>
        <pc:spChg chg="mod">
          <ac:chgData name="Adil Javed" userId="2d8c09a4c044a8f9" providerId="LiveId" clId="{DCBCE39E-3C48-43BE-A82E-195FA87AFF52}" dt="2026-06-07T07:22:55.121" v="14" actId="20577"/>
          <ac:spMkLst>
            <pc:docMk/>
            <pc:sldMk cId="0" sldId="256"/>
            <ac:spMk id="5" creationId="{00000000-0000-0000-0000-000000000000}"/>
          </ac:spMkLst>
        </pc:spChg>
        <pc:picChg chg="add mod">
          <ac:chgData name="Adil Javed" userId="2d8c09a4c044a8f9" providerId="LiveId" clId="{DCBCE39E-3C48-43BE-A82E-195FA87AFF52}" dt="2026-06-07T07:23:04.354" v="18" actId="1076"/>
          <ac:picMkLst>
            <pc:docMk/>
            <pc:sldMk cId="0" sldId="256"/>
            <ac:picMk id="11" creationId="{8F03C9FA-2B2E-ED57-9397-B214A110EF18}"/>
          </ac:picMkLst>
        </pc:picChg>
      </pc:sldChg>
      <pc:sldChg chg="addSp delSp modSp mod">
        <pc:chgData name="Adil Javed" userId="2d8c09a4c044a8f9" providerId="LiveId" clId="{DCBCE39E-3C48-43BE-A82E-195FA87AFF52}" dt="2026-06-07T07:22:34.371" v="9" actId="1076"/>
        <pc:sldMkLst>
          <pc:docMk/>
          <pc:sldMk cId="0" sldId="258"/>
        </pc:sldMkLst>
        <pc:spChg chg="del mod">
          <ac:chgData name="Adil Javed" userId="2d8c09a4c044a8f9" providerId="LiveId" clId="{DCBCE39E-3C48-43BE-A82E-195FA87AFF52}" dt="2026-06-07T07:21:59.718" v="1" actId="478"/>
          <ac:spMkLst>
            <pc:docMk/>
            <pc:sldMk cId="0" sldId="258"/>
            <ac:spMk id="10" creationId="{00000000-0000-0000-0000-000000000000}"/>
          </ac:spMkLst>
        </pc:spChg>
        <pc:spChg chg="mod">
          <ac:chgData name="Adil Javed" userId="2d8c09a4c044a8f9" providerId="LiveId" clId="{DCBCE39E-3C48-43BE-A82E-195FA87AFF52}" dt="2026-06-07T07:22:28.102" v="6" actId="1076"/>
          <ac:spMkLst>
            <pc:docMk/>
            <pc:sldMk cId="0" sldId="258"/>
            <ac:spMk id="11" creationId="{00000000-0000-0000-0000-000000000000}"/>
          </ac:spMkLst>
        </pc:spChg>
        <pc:picChg chg="add mod">
          <ac:chgData name="Adil Javed" userId="2d8c09a4c044a8f9" providerId="LiveId" clId="{DCBCE39E-3C48-43BE-A82E-195FA87AFF52}" dt="2026-06-07T07:22:34.371" v="9" actId="1076"/>
          <ac:picMkLst>
            <pc:docMk/>
            <pc:sldMk cId="0" sldId="258"/>
            <ac:picMk id="13" creationId="{D6E2A58E-4566-36F4-DE27-94F2EE86549A}"/>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007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035040"/>
            <a:ext cx="12188952" cy="822960"/>
          </a:xfrm>
          <a:prstGeom prst="rect">
            <a:avLst/>
          </a:prstGeom>
          <a:solidFill>
            <a:srgbClr val="007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1280160"/>
            <a:ext cx="8229600" cy="2286000"/>
          </a:xfrm>
          <a:prstGeom prst="rect">
            <a:avLst/>
          </a:prstGeom>
          <a:noFill/>
        </p:spPr>
        <p:txBody>
          <a:bodyPr wrap="square">
            <a:spAutoFit/>
          </a:bodyPr>
          <a:lstStyle/>
          <a:p>
            <a:pPr algn="l"/>
            <a:r>
              <a:rPr sz="4800" b="1" i="0" dirty="0">
                <a:solidFill>
                  <a:srgbClr val="FFFFFF"/>
                </a:solidFill>
              </a:rPr>
              <a:t>WSC </a:t>
            </a:r>
            <a:endParaRPr lang="en-US" sz="4800" b="1" i="0" dirty="0">
              <a:solidFill>
                <a:srgbClr val="FFFFFF"/>
              </a:solidFill>
            </a:endParaRPr>
          </a:p>
          <a:p>
            <a:pPr algn="l"/>
            <a:r>
              <a:rPr sz="4800" b="1" i="0" dirty="0">
                <a:solidFill>
                  <a:srgbClr val="FFFFFF"/>
                </a:solidFill>
              </a:rPr>
              <a:t>Hydrometric
Analysis App</a:t>
            </a:r>
          </a:p>
        </p:txBody>
      </p:sp>
      <p:sp>
        <p:nvSpPr>
          <p:cNvPr id="6" name="TextBox 5"/>
          <p:cNvSpPr txBox="1"/>
          <p:nvPr/>
        </p:nvSpPr>
        <p:spPr>
          <a:xfrm>
            <a:off x="502920" y="3566160"/>
            <a:ext cx="8686800" cy="1097280"/>
          </a:xfrm>
          <a:prstGeom prst="rect">
            <a:avLst/>
          </a:prstGeom>
          <a:noFill/>
        </p:spPr>
        <p:txBody>
          <a:bodyPr wrap="square">
            <a:spAutoFit/>
          </a:bodyPr>
          <a:lstStyle/>
          <a:p>
            <a:pPr algn="l"/>
            <a:r>
              <a:rPr sz="2000" b="0" i="1">
                <a:solidFill>
                  <a:srgbClr val="E0F4F7"/>
                </a:solidFill>
              </a:rPr>
              <a:t>Interactive web platform for Water Survey of Canada
stream-flow data analysis and flood frequency modelling</a:t>
            </a:r>
          </a:p>
        </p:txBody>
      </p:sp>
      <p:sp>
        <p:nvSpPr>
          <p:cNvPr id="7" name="Rectangle 6"/>
          <p:cNvSpPr/>
          <p:nvPr/>
        </p:nvSpPr>
        <p:spPr>
          <a:xfrm>
            <a:off x="502920" y="4892040"/>
            <a:ext cx="4023360" cy="548640"/>
          </a:xfrm>
          <a:prstGeom prst="rect">
            <a:avLst/>
          </a:prstGeom>
          <a:solidFill>
            <a:srgbClr val="E86A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4919472"/>
            <a:ext cx="3931920" cy="502920"/>
          </a:xfrm>
          <a:prstGeom prst="rect">
            <a:avLst/>
          </a:prstGeom>
          <a:noFill/>
        </p:spPr>
        <p:txBody>
          <a:bodyPr wrap="square">
            <a:spAutoFit/>
          </a:bodyPr>
          <a:lstStyle/>
          <a:p>
            <a:pPr algn="l"/>
            <a:r>
              <a:rPr sz="1700" b="1" i="0">
                <a:solidFill>
                  <a:srgbClr val="FFFFFF"/>
                </a:solidFill>
              </a:rPr>
              <a:t>  🌐  ws-cprep.vercel.app</a:t>
            </a:r>
          </a:p>
        </p:txBody>
      </p:sp>
      <p:sp>
        <p:nvSpPr>
          <p:cNvPr id="9" name="TextBox 8"/>
          <p:cNvSpPr txBox="1"/>
          <p:nvPr/>
        </p:nvSpPr>
        <p:spPr>
          <a:xfrm>
            <a:off x="274320" y="6053328"/>
            <a:ext cx="10972800" cy="594360"/>
          </a:xfrm>
          <a:prstGeom prst="rect">
            <a:avLst/>
          </a:prstGeom>
          <a:noFill/>
        </p:spPr>
        <p:txBody>
          <a:bodyPr wrap="square">
            <a:spAutoFit/>
          </a:bodyPr>
          <a:lstStyle/>
          <a:p>
            <a:pPr algn="ctr"/>
            <a:r>
              <a:rPr sz="1300" b="0" i="0">
                <a:solidFill>
                  <a:srgbClr val="FFFFFF"/>
                </a:solidFill>
              </a:rPr>
              <a:t>Powered by ECCC HYDAT  ·  Built with Next.js + Python FastAPI</a:t>
            </a:r>
          </a:p>
        </p:txBody>
      </p:sp>
      <p:pic>
        <p:nvPicPr>
          <p:cNvPr id="11" name="Picture 10">
            <a:extLst>
              <a:ext uri="{FF2B5EF4-FFF2-40B4-BE49-F238E27FC236}">
                <a16:creationId xmlns:a16="http://schemas.microsoft.com/office/drawing/2014/main" id="{8F03C9FA-2B2E-ED57-9397-B214A110EF18}"/>
              </a:ext>
            </a:extLst>
          </p:cNvPr>
          <p:cNvPicPr>
            <a:picLocks noChangeAspect="1"/>
          </p:cNvPicPr>
          <p:nvPr/>
        </p:nvPicPr>
        <p:blipFill>
          <a:blip r:embed="rId2"/>
          <a:stretch>
            <a:fillRect/>
          </a:stretch>
        </p:blipFill>
        <p:spPr>
          <a:xfrm>
            <a:off x="4199951" y="31608"/>
            <a:ext cx="7974579" cy="326023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2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143000"/>
          </a:xfrm>
          <a:prstGeom prst="rect">
            <a:avLst/>
          </a:prstGeom>
          <a:solidFill>
            <a:srgbClr val="0F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91440"/>
            <a:ext cx="10972800" cy="640080"/>
          </a:xfrm>
          <a:prstGeom prst="rect">
            <a:avLst/>
          </a:prstGeom>
          <a:noFill/>
        </p:spPr>
        <p:txBody>
          <a:bodyPr wrap="square">
            <a:spAutoFit/>
          </a:bodyPr>
          <a:lstStyle/>
          <a:p>
            <a:pPr algn="l"/>
            <a:r>
              <a:rPr sz="2800" b="1" i="0">
                <a:solidFill>
                  <a:srgbClr val="FFFFFF"/>
                </a:solidFill>
              </a:rPr>
              <a:t>What Is This App?</a:t>
            </a:r>
          </a:p>
        </p:txBody>
      </p:sp>
      <p:sp>
        <p:nvSpPr>
          <p:cNvPr id="5" name="TextBox 4"/>
          <p:cNvSpPr txBox="1"/>
          <p:nvPr/>
        </p:nvSpPr>
        <p:spPr>
          <a:xfrm>
            <a:off x="457200" y="713232"/>
            <a:ext cx="10972800" cy="365760"/>
          </a:xfrm>
          <a:prstGeom prst="rect">
            <a:avLst/>
          </a:prstGeom>
          <a:noFill/>
        </p:spPr>
        <p:txBody>
          <a:bodyPr wrap="square">
            <a:spAutoFit/>
          </a:bodyPr>
          <a:lstStyle/>
          <a:p>
            <a:pPr algn="l"/>
            <a:r>
              <a:rPr sz="1500" b="0" i="0">
                <a:solidFill>
                  <a:srgbClr val="E0F4F7"/>
                </a:solidFill>
              </a:rPr>
              <a:t>A one-stop platform for WSC hydrometric data exploration &amp; analysis</a:t>
            </a:r>
          </a:p>
        </p:txBody>
      </p:sp>
      <p:sp>
        <p:nvSpPr>
          <p:cNvPr id="6" name="Rectangle 5"/>
          <p:cNvSpPr/>
          <p:nvPr/>
        </p:nvSpPr>
        <p:spPr>
          <a:xfrm>
            <a:off x="0" y="1143000"/>
            <a:ext cx="12188952" cy="38100"/>
          </a:xfrm>
          <a:prstGeom prst="rect">
            <a:avLst/>
          </a:prstGeom>
          <a:solidFill>
            <a:srgbClr val="007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1371600"/>
            <a:ext cx="11430000" cy="5029200"/>
          </a:xfrm>
          <a:prstGeom prst="rect">
            <a:avLst/>
          </a:prstGeom>
          <a:solidFill>
            <a:srgbClr val="FFFFFF"/>
          </a:solidFill>
          <a:ln w="12700">
            <a:solidFill>
              <a:srgbClr val="E0F4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1508760"/>
            <a:ext cx="10881360" cy="4572000"/>
          </a:xfrm>
          <a:prstGeom prst="rect">
            <a:avLst/>
          </a:prstGeom>
          <a:noFill/>
        </p:spPr>
        <p:txBody>
          <a:bodyPr wrap="square">
            <a:spAutoFit/>
          </a:bodyPr>
          <a:lstStyle/>
          <a:p>
            <a:endParaRPr/>
          </a:p>
          <a:p>
            <a:pPr algn="l">
              <a:spcBef>
                <a:spcPts val="0"/>
              </a:spcBef>
            </a:pPr>
            <a:r>
              <a:rPr sz="1600" b="0" i="0">
                <a:solidFill>
                  <a:srgbClr val="2D2D2D"/>
                </a:solidFill>
              </a:rPr>
              <a:t>Water Survey of Canada (WSC) operates ~2,000 active hydrometric stations across the country. Until now, extracting and analysing that data meant juggling the HYDAT SQLite database, R scripts, or bulky desktop GIS tools.</a:t>
            </a:r>
          </a:p>
          <a:p>
            <a:pPr algn="l">
              <a:spcBef>
                <a:spcPts val="400"/>
              </a:spcBef>
            </a:pPr>
            <a:endParaRPr sz="1600" b="0" i="0">
              <a:solidFill>
                <a:srgbClr val="2D2D2D"/>
              </a:solidFill>
            </a:endParaRPr>
          </a:p>
          <a:p>
            <a:pPr algn="l">
              <a:spcBef>
                <a:spcPts val="400"/>
              </a:spcBef>
            </a:pPr>
            <a:r>
              <a:rPr sz="1600" b="0" i="0">
                <a:solidFill>
                  <a:srgbClr val="2D2D2D"/>
                </a:solidFill>
              </a:rPr>
              <a:t>This app replaces that workflow with a modern, browser-based platform that anyone on your team can open without installing anything. It pulls live data directly from Environment and Climate Change Canada's OGC API, runs all analyses on the fly, and presents results in clear, publication-ready charts.</a:t>
            </a:r>
          </a:p>
          <a:p>
            <a:pPr algn="l">
              <a:spcBef>
                <a:spcPts val="400"/>
              </a:spcBef>
            </a:pPr>
            <a:endParaRPr sz="1600" b="0" i="0">
              <a:solidFill>
                <a:srgbClr val="2D2D2D"/>
              </a:solidFill>
            </a:endParaRPr>
          </a:p>
          <a:p>
            <a:pPr algn="l">
              <a:spcBef>
                <a:spcPts val="400"/>
              </a:spcBef>
            </a:pPr>
            <a:r>
              <a:rPr sz="1500" b="1" i="0">
                <a:solidFill>
                  <a:srgbClr val="007A8A"/>
                </a:solidFill>
              </a:rPr>
              <a:t>Key facts:</a:t>
            </a:r>
          </a:p>
          <a:p>
            <a:pPr algn="l">
              <a:spcBef>
                <a:spcPts val="500"/>
              </a:spcBef>
            </a:pPr>
            <a:r>
              <a:rPr sz="1500" b="0" i="0">
                <a:solidFill>
                  <a:srgbClr val="2D2D2D"/>
                </a:solidFill>
              </a:rPr>
              <a:t>✅   No software installation — runs entirely in the browser</a:t>
            </a:r>
          </a:p>
          <a:p>
            <a:pPr algn="l">
              <a:spcBef>
                <a:spcPts val="500"/>
              </a:spcBef>
            </a:pPr>
            <a:r>
              <a:rPr sz="1500" b="0" i="0">
                <a:solidFill>
                  <a:srgbClr val="2D2D2D"/>
                </a:solidFill>
              </a:rPr>
              <a:t>✅   Live data from ECCC's national HYDAT database (updated daily)</a:t>
            </a:r>
          </a:p>
          <a:p>
            <a:pPr algn="l">
              <a:spcBef>
                <a:spcPts val="500"/>
              </a:spcBef>
            </a:pPr>
            <a:r>
              <a:rPr sz="1500" b="0" i="0">
                <a:solidFill>
                  <a:srgbClr val="2D2D2D"/>
                </a:solidFill>
              </a:rPr>
              <a:t>✅   Covers all active &amp; historical WSC stream-flow &amp; water-level stations</a:t>
            </a:r>
          </a:p>
          <a:p>
            <a:pPr algn="l">
              <a:spcBef>
                <a:spcPts val="500"/>
              </a:spcBef>
            </a:pPr>
            <a:r>
              <a:rPr sz="1500" b="0" i="0">
                <a:solidFill>
                  <a:srgbClr val="2D2D2D"/>
                </a:solidFill>
              </a:rPr>
              <a:t>✅   Analyses from basic statistics to advanced flood frequency modelling</a:t>
            </a:r>
          </a:p>
          <a:p>
            <a:pPr algn="l">
              <a:spcBef>
                <a:spcPts val="500"/>
              </a:spcBef>
            </a:pPr>
            <a:r>
              <a:rPr sz="1500" b="0" i="0">
                <a:solidFill>
                  <a:srgbClr val="2D2D2D"/>
                </a:solidFill>
              </a:rPr>
              <a:t>✅   Export charts, tables, and printable PDF reports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2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143000"/>
          </a:xfrm>
          <a:prstGeom prst="rect">
            <a:avLst/>
          </a:prstGeom>
          <a:solidFill>
            <a:srgbClr val="0F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91440"/>
            <a:ext cx="10972800" cy="640080"/>
          </a:xfrm>
          <a:prstGeom prst="rect">
            <a:avLst/>
          </a:prstGeom>
          <a:noFill/>
        </p:spPr>
        <p:txBody>
          <a:bodyPr wrap="square">
            <a:spAutoFit/>
          </a:bodyPr>
          <a:lstStyle/>
          <a:p>
            <a:pPr algn="l"/>
            <a:r>
              <a:rPr sz="2800" b="1" i="0">
                <a:solidFill>
                  <a:srgbClr val="FFFFFF"/>
                </a:solidFill>
              </a:rPr>
              <a:t>Station Discovery</a:t>
            </a:r>
          </a:p>
        </p:txBody>
      </p:sp>
      <p:sp>
        <p:nvSpPr>
          <p:cNvPr id="5" name="TextBox 4"/>
          <p:cNvSpPr txBox="1"/>
          <p:nvPr/>
        </p:nvSpPr>
        <p:spPr>
          <a:xfrm>
            <a:off x="457200" y="713232"/>
            <a:ext cx="10972800" cy="365760"/>
          </a:xfrm>
          <a:prstGeom prst="rect">
            <a:avLst/>
          </a:prstGeom>
          <a:noFill/>
        </p:spPr>
        <p:txBody>
          <a:bodyPr wrap="square">
            <a:spAutoFit/>
          </a:bodyPr>
          <a:lstStyle/>
          <a:p>
            <a:pPr algn="l"/>
            <a:r>
              <a:rPr sz="1500" b="0" i="0">
                <a:solidFill>
                  <a:srgbClr val="E0F4F7"/>
                </a:solidFill>
              </a:rPr>
              <a:t>Find and explore any WSC hydrometric station instantly</a:t>
            </a:r>
          </a:p>
        </p:txBody>
      </p:sp>
      <p:sp>
        <p:nvSpPr>
          <p:cNvPr id="6" name="Rectangle 5"/>
          <p:cNvSpPr/>
          <p:nvPr/>
        </p:nvSpPr>
        <p:spPr>
          <a:xfrm>
            <a:off x="0" y="1143000"/>
            <a:ext cx="12188952" cy="38100"/>
          </a:xfrm>
          <a:prstGeom prst="rect">
            <a:avLst/>
          </a:prstGeom>
          <a:solidFill>
            <a:srgbClr val="007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1325880"/>
            <a:ext cx="5486400" cy="5120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1463040"/>
            <a:ext cx="5120640" cy="4754880"/>
          </a:xfrm>
          <a:prstGeom prst="rect">
            <a:avLst/>
          </a:prstGeom>
          <a:noFill/>
        </p:spPr>
        <p:txBody>
          <a:bodyPr wrap="square">
            <a:spAutoFit/>
          </a:bodyPr>
          <a:lstStyle/>
          <a:p>
            <a:endParaRPr/>
          </a:p>
          <a:p>
            <a:pPr algn="l">
              <a:spcBef>
                <a:spcPts val="0"/>
              </a:spcBef>
            </a:pPr>
            <a:r>
              <a:rPr sz="1800" b="1" i="0">
                <a:solidFill>
                  <a:srgbClr val="007A8A"/>
                </a:solidFill>
              </a:rPr>
              <a:t>Interactive Map</a:t>
            </a:r>
          </a:p>
          <a:p>
            <a:pPr algn="l">
              <a:spcBef>
                <a:spcPts val="400"/>
              </a:spcBef>
            </a:pPr>
            <a:r>
              <a:rPr sz="1400" b="0" i="0">
                <a:solidFill>
                  <a:srgbClr val="2D2D2D"/>
                </a:solidFill>
              </a:rPr>
              <a:t>The home screen displays every WSC station on an interactive Leaflet map. Switch between OpenStreetMap and satellite imagery with one click.</a:t>
            </a:r>
          </a:p>
          <a:p>
            <a:pPr algn="l">
              <a:spcBef>
                <a:spcPts val="400"/>
              </a:spcBef>
            </a:pPr>
            <a:endParaRPr sz="1400" b="0" i="0">
              <a:solidFill>
                <a:srgbClr val="2D2D2D"/>
              </a:solidFill>
            </a:endParaRPr>
          </a:p>
          <a:p>
            <a:pPr algn="l">
              <a:spcBef>
                <a:spcPts val="400"/>
              </a:spcBef>
            </a:pPr>
            <a:r>
              <a:rPr sz="1400" b="1" i="0">
                <a:solidFill>
                  <a:srgbClr val="007A8A"/>
                </a:solidFill>
              </a:rPr>
              <a:t>Colour-coded by metric</a:t>
            </a:r>
          </a:p>
          <a:p>
            <a:pPr algn="l">
              <a:spcBef>
                <a:spcPts val="400"/>
              </a:spcBef>
            </a:pPr>
            <a:r>
              <a:rPr sz="1400" b="0" i="0">
                <a:solidFill>
                  <a:srgbClr val="2D2D2D"/>
                </a:solidFill>
              </a:rPr>
              <a:t>Station markers can be coloured by mean annual discharge, record length, or drainage area — giving an instant spatial overview of the network.</a:t>
            </a:r>
          </a:p>
          <a:p>
            <a:pPr algn="l">
              <a:spcBef>
                <a:spcPts val="400"/>
              </a:spcBef>
            </a:pPr>
            <a:endParaRPr sz="1400" b="0" i="0">
              <a:solidFill>
                <a:srgbClr val="2D2D2D"/>
              </a:solidFill>
            </a:endParaRPr>
          </a:p>
          <a:p>
            <a:pPr algn="l">
              <a:spcBef>
                <a:spcPts val="400"/>
              </a:spcBef>
            </a:pPr>
            <a:r>
              <a:rPr sz="1400" b="1" i="0">
                <a:solidFill>
                  <a:srgbClr val="007A8A"/>
                </a:solidFill>
              </a:rPr>
              <a:t>Search &amp; Filter</a:t>
            </a:r>
          </a:p>
          <a:p>
            <a:pPr algn="l">
              <a:spcBef>
                <a:spcPts val="300"/>
              </a:spcBef>
            </a:pPr>
            <a:r>
              <a:rPr sz="1300" b="0" i="0">
                <a:solidFill>
                  <a:srgbClr val="2D2D2D"/>
                </a:solidFill>
              </a:rPr>
              <a:t>  • Search by station name or ID</a:t>
            </a:r>
          </a:p>
          <a:p>
            <a:pPr algn="l">
              <a:spcBef>
                <a:spcPts val="300"/>
              </a:spcBef>
            </a:pPr>
            <a:r>
              <a:rPr sz="1300" b="0" i="0">
                <a:solidFill>
                  <a:srgbClr val="2D2D2D"/>
                </a:solidFill>
              </a:rPr>
              <a:t>  • Filter by province or active/historical status</a:t>
            </a:r>
          </a:p>
          <a:p>
            <a:pPr algn="l">
              <a:spcBef>
                <a:spcPts val="300"/>
              </a:spcBef>
            </a:pPr>
            <a:r>
              <a:rPr sz="1300" b="0" i="0">
                <a:solidFill>
                  <a:srgbClr val="2D2D2D"/>
                </a:solidFill>
              </a:rPr>
              <a:t>  • Save favourite stations for quick access</a:t>
            </a:r>
          </a:p>
          <a:p>
            <a:pPr algn="l">
              <a:spcBef>
                <a:spcPts val="400"/>
              </a:spcBef>
            </a:pPr>
            <a:endParaRPr sz="1300" b="0" i="0">
              <a:solidFill>
                <a:srgbClr val="2D2D2D"/>
              </a:solidFill>
            </a:endParaRPr>
          </a:p>
          <a:p>
            <a:pPr algn="l">
              <a:spcBef>
                <a:spcPts val="400"/>
              </a:spcBef>
            </a:pPr>
            <a:r>
              <a:rPr sz="1400" b="1" i="0">
                <a:solidFill>
                  <a:srgbClr val="007A8A"/>
                </a:solidFill>
              </a:rPr>
              <a:t>Station Details</a:t>
            </a:r>
          </a:p>
          <a:p>
            <a:pPr algn="l">
              <a:spcBef>
                <a:spcPts val="400"/>
              </a:spcBef>
            </a:pPr>
            <a:r>
              <a:rPr sz="1400" b="0" i="0">
                <a:solidFill>
                  <a:srgbClr val="2D2D2D"/>
                </a:solidFill>
              </a:rPr>
              <a:t>Clicking any station opens its full profile: drainage area, record span, current status, and links to all analysis tabs.</a:t>
            </a:r>
          </a:p>
        </p:txBody>
      </p:sp>
      <p:sp>
        <p:nvSpPr>
          <p:cNvPr id="9" name="Rectangle 8"/>
          <p:cNvSpPr/>
          <p:nvPr/>
        </p:nvSpPr>
        <p:spPr>
          <a:xfrm>
            <a:off x="6080760" y="1325880"/>
            <a:ext cx="5760720" cy="5120640"/>
          </a:xfrm>
          <a:prstGeom prst="rect">
            <a:avLst/>
          </a:prstGeom>
          <a:solidFill>
            <a:srgbClr val="0F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170026" y="5489161"/>
            <a:ext cx="5577840" cy="1463040"/>
          </a:xfrm>
          <a:prstGeom prst="rect">
            <a:avLst/>
          </a:prstGeom>
          <a:noFill/>
        </p:spPr>
        <p:txBody>
          <a:bodyPr wrap="square">
            <a:spAutoFit/>
          </a:bodyPr>
          <a:lstStyle/>
          <a:p>
            <a:pPr algn="ctr"/>
            <a:r>
              <a:rPr sz="1500" b="0" i="1" dirty="0">
                <a:solidFill>
                  <a:srgbClr val="E0F4F7"/>
                </a:solidFill>
              </a:rPr>
              <a:t>Interactive map showing
~2,000 WSC stations
</a:t>
            </a:r>
            <a:r>
              <a:rPr sz="1500" b="0" i="1" dirty="0" err="1">
                <a:solidFill>
                  <a:srgbClr val="E0F4F7"/>
                </a:solidFill>
              </a:rPr>
              <a:t>colour</a:t>
            </a:r>
            <a:r>
              <a:rPr sz="1500" b="0" i="1" dirty="0">
                <a:solidFill>
                  <a:srgbClr val="E0F4F7"/>
                </a:solidFill>
              </a:rPr>
              <a:t>-coded by metric</a:t>
            </a:r>
          </a:p>
        </p:txBody>
      </p:sp>
      <p:pic>
        <p:nvPicPr>
          <p:cNvPr id="13" name="Picture 12">
            <a:extLst>
              <a:ext uri="{FF2B5EF4-FFF2-40B4-BE49-F238E27FC236}">
                <a16:creationId xmlns:a16="http://schemas.microsoft.com/office/drawing/2014/main" id="{D6E2A58E-4566-36F4-DE27-94F2EE86549A}"/>
              </a:ext>
            </a:extLst>
          </p:cNvPr>
          <p:cNvPicPr>
            <a:picLocks noChangeAspect="1"/>
          </p:cNvPicPr>
          <p:nvPr/>
        </p:nvPicPr>
        <p:blipFill>
          <a:blip r:embed="rId2"/>
          <a:stretch>
            <a:fillRect/>
          </a:stretch>
        </p:blipFill>
        <p:spPr>
          <a:xfrm>
            <a:off x="6217920" y="2073527"/>
            <a:ext cx="5513379" cy="300415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2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143000"/>
          </a:xfrm>
          <a:prstGeom prst="rect">
            <a:avLst/>
          </a:prstGeom>
          <a:solidFill>
            <a:srgbClr val="0F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91440"/>
            <a:ext cx="10972800" cy="640080"/>
          </a:xfrm>
          <a:prstGeom prst="rect">
            <a:avLst/>
          </a:prstGeom>
          <a:noFill/>
        </p:spPr>
        <p:txBody>
          <a:bodyPr wrap="square">
            <a:spAutoFit/>
          </a:bodyPr>
          <a:lstStyle/>
          <a:p>
            <a:pPr algn="l"/>
            <a:r>
              <a:rPr sz="2800" b="1" i="0">
                <a:solidFill>
                  <a:srgbClr val="FFFFFF"/>
                </a:solidFill>
              </a:rPr>
              <a:t>Hydrograph &amp; Baseflow Separation</a:t>
            </a:r>
          </a:p>
        </p:txBody>
      </p:sp>
      <p:sp>
        <p:nvSpPr>
          <p:cNvPr id="5" name="TextBox 4"/>
          <p:cNvSpPr txBox="1"/>
          <p:nvPr/>
        </p:nvSpPr>
        <p:spPr>
          <a:xfrm>
            <a:off x="457200" y="713232"/>
            <a:ext cx="10972800" cy="365760"/>
          </a:xfrm>
          <a:prstGeom prst="rect">
            <a:avLst/>
          </a:prstGeom>
          <a:noFill/>
        </p:spPr>
        <p:txBody>
          <a:bodyPr wrap="square">
            <a:spAutoFit/>
          </a:bodyPr>
          <a:lstStyle/>
          <a:p>
            <a:pPr algn="l"/>
            <a:r>
              <a:rPr sz="1500" b="0" i="0">
                <a:solidFill>
                  <a:srgbClr val="E0F4F7"/>
                </a:solidFill>
              </a:rPr>
              <a:t>Visualise the full daily record and decompose flow components</a:t>
            </a:r>
          </a:p>
        </p:txBody>
      </p:sp>
      <p:sp>
        <p:nvSpPr>
          <p:cNvPr id="6" name="Rectangle 5"/>
          <p:cNvSpPr/>
          <p:nvPr/>
        </p:nvSpPr>
        <p:spPr>
          <a:xfrm>
            <a:off x="0" y="1143000"/>
            <a:ext cx="12188952" cy="38100"/>
          </a:xfrm>
          <a:prstGeom prst="rect">
            <a:avLst/>
          </a:prstGeom>
          <a:solidFill>
            <a:srgbClr val="007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1325880"/>
            <a:ext cx="5394960" cy="5120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1463040"/>
            <a:ext cx="5120640" cy="4937760"/>
          </a:xfrm>
          <a:prstGeom prst="rect">
            <a:avLst/>
          </a:prstGeom>
          <a:noFill/>
        </p:spPr>
        <p:txBody>
          <a:bodyPr wrap="square">
            <a:spAutoFit/>
          </a:bodyPr>
          <a:lstStyle/>
          <a:p>
            <a:endParaRPr/>
          </a:p>
          <a:p>
            <a:pPr algn="l">
              <a:spcBef>
                <a:spcPts val="0"/>
              </a:spcBef>
            </a:pPr>
            <a:r>
              <a:rPr sz="1800" b="1" i="0">
                <a:solidFill>
                  <a:srgbClr val="007A8A"/>
                </a:solidFill>
              </a:rPr>
              <a:t>📈  Daily Hydrograph</a:t>
            </a:r>
          </a:p>
          <a:p>
            <a:pPr algn="l">
              <a:spcBef>
                <a:spcPts val="400"/>
              </a:spcBef>
            </a:pPr>
            <a:r>
              <a:rPr sz="1400" b="0" i="0">
                <a:solidFill>
                  <a:srgbClr val="2D2D2D"/>
                </a:solidFill>
              </a:rPr>
              <a:t>Plot the complete daily discharge or water-level record for any station. Pan and zoom across decades of data with an interactive timeline.</a:t>
            </a:r>
          </a:p>
          <a:p>
            <a:pPr algn="l">
              <a:spcBef>
                <a:spcPts val="400"/>
              </a:spcBef>
            </a:pPr>
            <a:endParaRPr sz="1400" b="0" i="0">
              <a:solidFill>
                <a:srgbClr val="2D2D2D"/>
              </a:solidFill>
            </a:endParaRPr>
          </a:p>
          <a:p>
            <a:pPr algn="l">
              <a:spcBef>
                <a:spcPts val="400"/>
              </a:spcBef>
            </a:pPr>
            <a:r>
              <a:rPr sz="1300" b="1" i="0">
                <a:solidFill>
                  <a:srgbClr val="556570"/>
                </a:solidFill>
              </a:rPr>
              <a:t>Features:</a:t>
            </a:r>
          </a:p>
          <a:p>
            <a:pPr algn="l">
              <a:spcBef>
                <a:spcPts val="300"/>
              </a:spcBef>
            </a:pPr>
            <a:r>
              <a:rPr sz="1300" b="0" i="0">
                <a:solidFill>
                  <a:srgbClr val="2D2D2D"/>
                </a:solidFill>
              </a:rPr>
              <a:t>  • Date-range selector (zoom to any period)</a:t>
            </a:r>
          </a:p>
          <a:p>
            <a:pPr algn="l">
              <a:spcBef>
                <a:spcPts val="300"/>
              </a:spcBef>
            </a:pPr>
            <a:r>
              <a:rPr sz="1300" b="0" i="0">
                <a:solidFill>
                  <a:srgbClr val="2D2D2D"/>
                </a:solidFill>
              </a:rPr>
              <a:t>  • Toggle discharge ↔ water level</a:t>
            </a:r>
          </a:p>
          <a:p>
            <a:pPr algn="l">
              <a:spcBef>
                <a:spcPts val="300"/>
              </a:spcBef>
            </a:pPr>
            <a:r>
              <a:rPr sz="1300" b="0" i="0">
                <a:solidFill>
                  <a:srgbClr val="2D2D2D"/>
                </a:solidFill>
              </a:rPr>
              <a:t>  • High-flow event flags on the chart</a:t>
            </a:r>
          </a:p>
          <a:p>
            <a:pPr algn="l">
              <a:spcBef>
                <a:spcPts val="300"/>
              </a:spcBef>
            </a:pPr>
            <a:r>
              <a:rPr sz="1300" b="0" i="0">
                <a:solidFill>
                  <a:srgbClr val="2D2D2D"/>
                </a:solidFill>
              </a:rPr>
              <a:t>  • Download raw data as CSV</a:t>
            </a:r>
          </a:p>
          <a:p>
            <a:pPr algn="l">
              <a:spcBef>
                <a:spcPts val="300"/>
              </a:spcBef>
            </a:pPr>
            <a:r>
              <a:rPr sz="1300" b="0" i="0">
                <a:solidFill>
                  <a:srgbClr val="2D2D2D"/>
                </a:solidFill>
              </a:rPr>
              <a:t>  • Variable colour by flow magnitude</a:t>
            </a:r>
          </a:p>
        </p:txBody>
      </p:sp>
      <p:sp>
        <p:nvSpPr>
          <p:cNvPr id="9" name="Rectangle 8"/>
          <p:cNvSpPr/>
          <p:nvPr/>
        </p:nvSpPr>
        <p:spPr>
          <a:xfrm>
            <a:off x="6217920" y="1325880"/>
            <a:ext cx="5394960" cy="5120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0" y="1463040"/>
            <a:ext cx="5120640" cy="4937760"/>
          </a:xfrm>
          <a:prstGeom prst="rect">
            <a:avLst/>
          </a:prstGeom>
          <a:noFill/>
        </p:spPr>
        <p:txBody>
          <a:bodyPr wrap="square">
            <a:spAutoFit/>
          </a:bodyPr>
          <a:lstStyle/>
          <a:p>
            <a:endParaRPr/>
          </a:p>
          <a:p>
            <a:pPr algn="l">
              <a:spcBef>
                <a:spcPts val="0"/>
              </a:spcBef>
            </a:pPr>
            <a:r>
              <a:rPr sz="1800" b="1" i="0">
                <a:solidFill>
                  <a:srgbClr val="007A8A"/>
                </a:solidFill>
              </a:rPr>
              <a:t>🌊  Baseflow Separation</a:t>
            </a:r>
          </a:p>
          <a:p>
            <a:pPr algn="l">
              <a:spcBef>
                <a:spcPts val="400"/>
              </a:spcBef>
            </a:pPr>
            <a:r>
              <a:rPr sz="1400" b="0" i="0">
                <a:solidFill>
                  <a:srgbClr val="2D2D2D"/>
                </a:solidFill>
              </a:rPr>
              <a:t>Decompose total discharge into baseflow (groundwater) and quickflow (storm runoff) using two industry-standard digital filters — both running entirely in your browser.</a:t>
            </a:r>
          </a:p>
          <a:p>
            <a:pPr algn="l">
              <a:spcBef>
                <a:spcPts val="400"/>
              </a:spcBef>
            </a:pPr>
            <a:endParaRPr sz="1400" b="0" i="0">
              <a:solidFill>
                <a:srgbClr val="2D2D2D"/>
              </a:solidFill>
            </a:endParaRPr>
          </a:p>
          <a:p>
            <a:pPr algn="l">
              <a:spcBef>
                <a:spcPts val="400"/>
              </a:spcBef>
            </a:pPr>
            <a:r>
              <a:rPr sz="1300" b="1" i="0">
                <a:solidFill>
                  <a:srgbClr val="556570"/>
                </a:solidFill>
              </a:rPr>
              <a:t>Two methods:</a:t>
            </a:r>
          </a:p>
          <a:p>
            <a:pPr algn="l">
              <a:spcBef>
                <a:spcPts val="400"/>
              </a:spcBef>
            </a:pPr>
            <a:r>
              <a:rPr sz="1300" b="1" i="0">
                <a:solidFill>
                  <a:srgbClr val="2D2D2D"/>
                </a:solidFill>
              </a:rPr>
              <a:t>  Lyne &amp; Hollick (1979)</a:t>
            </a:r>
          </a:p>
          <a:p>
            <a:pPr algn="l">
              <a:spcBef>
                <a:spcPts val="200"/>
              </a:spcBef>
            </a:pPr>
            <a:r>
              <a:rPr sz="1200" b="0" i="0">
                <a:solidFill>
                  <a:srgbClr val="556570"/>
                </a:solidFill>
              </a:rPr>
              <a:t>  3-pass recursive filter (α = 0.925)</a:t>
            </a:r>
          </a:p>
          <a:p>
            <a:pPr algn="l">
              <a:spcBef>
                <a:spcPts val="400"/>
              </a:spcBef>
            </a:pPr>
            <a:endParaRPr sz="1200" b="0" i="0">
              <a:solidFill>
                <a:srgbClr val="556570"/>
              </a:solidFill>
            </a:endParaRPr>
          </a:p>
          <a:p>
            <a:pPr algn="l">
              <a:spcBef>
                <a:spcPts val="400"/>
              </a:spcBef>
            </a:pPr>
            <a:r>
              <a:rPr sz="1300" b="1" i="0">
                <a:solidFill>
                  <a:srgbClr val="2D2D2D"/>
                </a:solidFill>
              </a:rPr>
              <a:t>  Eckhardt (2005)</a:t>
            </a:r>
          </a:p>
          <a:p>
            <a:pPr algn="l">
              <a:spcBef>
                <a:spcPts val="200"/>
              </a:spcBef>
            </a:pPr>
            <a:r>
              <a:rPr sz="1200" b="0" i="0">
                <a:solidFill>
                  <a:srgbClr val="556570"/>
                </a:solidFill>
              </a:rPr>
              <a:t>  Two-parameter filter (a = 0.98, BFImax = 0.80)</a:t>
            </a:r>
          </a:p>
          <a:p>
            <a:pPr algn="l">
              <a:spcBef>
                <a:spcPts val="400"/>
              </a:spcBef>
            </a:pPr>
            <a:endParaRPr sz="1200" b="0" i="0">
              <a:solidFill>
                <a:srgbClr val="556570"/>
              </a:solidFill>
            </a:endParaRPr>
          </a:p>
          <a:p>
            <a:pPr algn="l">
              <a:spcBef>
                <a:spcPts val="400"/>
              </a:spcBef>
            </a:pPr>
            <a:r>
              <a:rPr sz="1300" b="1" i="0">
                <a:solidFill>
                  <a:srgbClr val="556570"/>
                </a:solidFill>
              </a:rPr>
              <a:t>Output:</a:t>
            </a:r>
          </a:p>
          <a:p>
            <a:pPr algn="l">
              <a:spcBef>
                <a:spcPts val="400"/>
              </a:spcBef>
            </a:pPr>
            <a:r>
              <a:rPr sz="1300" b="0" i="0">
                <a:solidFill>
                  <a:srgbClr val="2D2D2D"/>
                </a:solidFill>
              </a:rPr>
              <a:t>Stacked-area chart showing total flow, baseflow, and quickflow bands. Live Baseflow Index (BFI) readout updates as you adjust filter parameters.</a:t>
            </a:r>
          </a:p>
        </p:txBody>
      </p:sp>
      <p:sp>
        <p:nvSpPr>
          <p:cNvPr id="11" name="Rectangle 10"/>
          <p:cNvSpPr/>
          <p:nvPr/>
        </p:nvSpPr>
        <p:spPr>
          <a:xfrm>
            <a:off x="11064240" y="1325880"/>
            <a:ext cx="758952" cy="5120640"/>
          </a:xfrm>
          <a:prstGeom prst="rect">
            <a:avLst/>
          </a:prstGeom>
          <a:solidFill>
            <a:srgbClr val="007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1064240" y="3108960"/>
            <a:ext cx="758952" cy="1828800"/>
          </a:xfrm>
          <a:prstGeom prst="rect">
            <a:avLst/>
          </a:prstGeom>
          <a:noFill/>
        </p:spPr>
        <p:txBody>
          <a:bodyPr wrap="square">
            <a:spAutoFit/>
          </a:bodyPr>
          <a:lstStyle/>
          <a:p>
            <a:pPr algn="ctr"/>
            <a:r>
              <a:rPr sz="1100" b="1" i="0">
                <a:solidFill>
                  <a:srgbClr val="FFFFFF"/>
                </a:solidFill>
              </a:rPr>
              <a:t>HYDROGRAPH</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2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143000"/>
          </a:xfrm>
          <a:prstGeom prst="rect">
            <a:avLst/>
          </a:prstGeom>
          <a:solidFill>
            <a:srgbClr val="0F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91440"/>
            <a:ext cx="10972800" cy="640080"/>
          </a:xfrm>
          <a:prstGeom prst="rect">
            <a:avLst/>
          </a:prstGeom>
          <a:noFill/>
        </p:spPr>
        <p:txBody>
          <a:bodyPr wrap="square">
            <a:spAutoFit/>
          </a:bodyPr>
          <a:lstStyle/>
          <a:p>
            <a:pPr algn="l"/>
            <a:r>
              <a:rPr sz="2800" b="1" i="0">
                <a:solidFill>
                  <a:srgbClr val="FFFFFF"/>
                </a:solidFill>
              </a:rPr>
              <a:t>Flow Analysis Tabs</a:t>
            </a:r>
          </a:p>
        </p:txBody>
      </p:sp>
      <p:sp>
        <p:nvSpPr>
          <p:cNvPr id="5" name="TextBox 4"/>
          <p:cNvSpPr txBox="1"/>
          <p:nvPr/>
        </p:nvSpPr>
        <p:spPr>
          <a:xfrm>
            <a:off x="457200" y="713232"/>
            <a:ext cx="10972800" cy="365760"/>
          </a:xfrm>
          <a:prstGeom prst="rect">
            <a:avLst/>
          </a:prstGeom>
          <a:noFill/>
        </p:spPr>
        <p:txBody>
          <a:bodyPr wrap="square">
            <a:spAutoFit/>
          </a:bodyPr>
          <a:lstStyle/>
          <a:p>
            <a:pPr algn="l"/>
            <a:r>
              <a:rPr sz="1500" b="0" i="0">
                <a:solidFill>
                  <a:srgbClr val="E0F4F7"/>
                </a:solidFill>
              </a:rPr>
              <a:t>Flow Duration Curve · Annual Regime · Statistical Summary</a:t>
            </a:r>
          </a:p>
        </p:txBody>
      </p:sp>
      <p:sp>
        <p:nvSpPr>
          <p:cNvPr id="6" name="Rectangle 5"/>
          <p:cNvSpPr/>
          <p:nvPr/>
        </p:nvSpPr>
        <p:spPr>
          <a:xfrm>
            <a:off x="0" y="1143000"/>
            <a:ext cx="12188952" cy="38100"/>
          </a:xfrm>
          <a:prstGeom prst="rect">
            <a:avLst/>
          </a:prstGeom>
          <a:solidFill>
            <a:srgbClr val="007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20040" y="1371600"/>
            <a:ext cx="3566160" cy="5029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1463040"/>
            <a:ext cx="3291840" cy="4846320"/>
          </a:xfrm>
          <a:prstGeom prst="rect">
            <a:avLst/>
          </a:prstGeom>
          <a:noFill/>
        </p:spPr>
        <p:txBody>
          <a:bodyPr wrap="square">
            <a:spAutoFit/>
          </a:bodyPr>
          <a:lstStyle/>
          <a:p>
            <a:endParaRPr/>
          </a:p>
          <a:p>
            <a:pPr algn="l">
              <a:spcBef>
                <a:spcPts val="0"/>
              </a:spcBef>
            </a:pPr>
            <a:r>
              <a:rPr sz="1600" b="1" i="0">
                <a:solidFill>
                  <a:srgbClr val="007A8A"/>
                </a:solidFill>
              </a:rPr>
              <a:t>📉  Flow Duration Curve</a:t>
            </a:r>
          </a:p>
          <a:p>
            <a:pPr algn="l">
              <a:spcBef>
                <a:spcPts val="600"/>
              </a:spcBef>
            </a:pPr>
            <a:r>
              <a:rPr sz="1300" b="0" i="0">
                <a:solidFill>
                  <a:srgbClr val="2D2D2D"/>
                </a:solidFill>
              </a:rPr>
              <a:t>Ranks every daily discharge from highest to lowest and plots exceedance probability on a log scale.</a:t>
            </a:r>
          </a:p>
          <a:p>
            <a:pPr algn="l">
              <a:spcBef>
                <a:spcPts val="400"/>
              </a:spcBef>
            </a:pPr>
            <a:endParaRPr sz="1300" b="0" i="0">
              <a:solidFill>
                <a:srgbClr val="2D2D2D"/>
              </a:solidFill>
            </a:endParaRPr>
          </a:p>
          <a:p>
            <a:pPr algn="l">
              <a:spcBef>
                <a:spcPts val="400"/>
              </a:spcBef>
            </a:pPr>
            <a:r>
              <a:rPr sz="1200" b="0" i="0">
                <a:solidFill>
                  <a:srgbClr val="2D2D2D"/>
                </a:solidFill>
              </a:rPr>
              <a:t>  • Q10, Q50, Q90 markers</a:t>
            </a:r>
          </a:p>
          <a:p>
            <a:pPr algn="l">
              <a:spcBef>
                <a:spcPts val="400"/>
              </a:spcBef>
            </a:pPr>
            <a:r>
              <a:rPr sz="1200" b="0" i="0">
                <a:solidFill>
                  <a:srgbClr val="2D2D2D"/>
                </a:solidFill>
              </a:rPr>
              <a:t>  • Identifies high-flow, median,
and low-flow regimes</a:t>
            </a:r>
          </a:p>
          <a:p>
            <a:pPr algn="l">
              <a:spcBef>
                <a:spcPts val="400"/>
              </a:spcBef>
            </a:pPr>
            <a:r>
              <a:rPr sz="1200" b="0" i="0">
                <a:solidFill>
                  <a:srgbClr val="2D2D2D"/>
                </a:solidFill>
              </a:rPr>
              <a:t>  • Essential for environmental
flow assessments</a:t>
            </a:r>
          </a:p>
          <a:p>
            <a:pPr algn="l">
              <a:spcBef>
                <a:spcPts val="400"/>
              </a:spcBef>
            </a:pPr>
            <a:r>
              <a:rPr sz="1200" b="0" i="0">
                <a:solidFill>
                  <a:srgbClr val="2D2D2D"/>
                </a:solidFill>
              </a:rPr>
              <a:t>  • Log-scale discharge axis</a:t>
            </a:r>
          </a:p>
        </p:txBody>
      </p:sp>
      <p:sp>
        <p:nvSpPr>
          <p:cNvPr id="9" name="Rectangle 8"/>
          <p:cNvSpPr/>
          <p:nvPr/>
        </p:nvSpPr>
        <p:spPr>
          <a:xfrm>
            <a:off x="4069080" y="1371600"/>
            <a:ext cx="3566160" cy="5029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206240" y="1463040"/>
            <a:ext cx="3291840" cy="4846320"/>
          </a:xfrm>
          <a:prstGeom prst="rect">
            <a:avLst/>
          </a:prstGeom>
          <a:noFill/>
        </p:spPr>
        <p:txBody>
          <a:bodyPr wrap="square">
            <a:spAutoFit/>
          </a:bodyPr>
          <a:lstStyle/>
          <a:p>
            <a:endParaRPr/>
          </a:p>
          <a:p>
            <a:pPr algn="l">
              <a:spcBef>
                <a:spcPts val="0"/>
              </a:spcBef>
            </a:pPr>
            <a:r>
              <a:rPr sz="1600" b="1" i="0">
                <a:solidFill>
                  <a:srgbClr val="007A8A"/>
                </a:solidFill>
              </a:rPr>
              <a:t>📅  Annual Regime</a:t>
            </a:r>
          </a:p>
          <a:p>
            <a:pPr algn="l">
              <a:spcBef>
                <a:spcPts val="600"/>
              </a:spcBef>
            </a:pPr>
            <a:r>
              <a:rPr sz="1300" b="0" i="0">
                <a:solidFill>
                  <a:srgbClr val="2D2D2D"/>
                </a:solidFill>
              </a:rPr>
              <a:t>Shows the seasonal pattern of flow throughout the year — averaged across the full station record.</a:t>
            </a:r>
          </a:p>
          <a:p>
            <a:pPr algn="l">
              <a:spcBef>
                <a:spcPts val="400"/>
              </a:spcBef>
            </a:pPr>
            <a:endParaRPr sz="1300" b="0" i="0">
              <a:solidFill>
                <a:srgbClr val="2D2D2D"/>
              </a:solidFill>
            </a:endParaRPr>
          </a:p>
          <a:p>
            <a:pPr algn="l">
              <a:spcBef>
                <a:spcPts val="400"/>
              </a:spcBef>
            </a:pPr>
            <a:r>
              <a:rPr sz="1200" b="0" i="0">
                <a:solidFill>
                  <a:srgbClr val="2D2D2D"/>
                </a:solidFill>
              </a:rPr>
              <a:t>  • Mean monthly discharge</a:t>
            </a:r>
          </a:p>
          <a:p>
            <a:pPr algn="l">
              <a:spcBef>
                <a:spcPts val="400"/>
              </a:spcBef>
            </a:pPr>
            <a:r>
              <a:rPr sz="1200" b="0" i="0">
                <a:solidFill>
                  <a:srgbClr val="2D2D2D"/>
                </a:solidFill>
              </a:rPr>
              <a:t>  • Q10–Q90 uncertainty band</a:t>
            </a:r>
          </a:p>
          <a:p>
            <a:pPr algn="l">
              <a:spcBef>
                <a:spcPts val="400"/>
              </a:spcBef>
            </a:pPr>
            <a:r>
              <a:rPr sz="1200" b="0" i="0">
                <a:solidFill>
                  <a:srgbClr val="2D2D2D"/>
                </a:solidFill>
              </a:rPr>
              <a:t>  • Reveals snowmelt peaks,
summer low-flows, etc.</a:t>
            </a:r>
          </a:p>
          <a:p>
            <a:pPr algn="l">
              <a:spcBef>
                <a:spcPts val="400"/>
              </a:spcBef>
            </a:pPr>
            <a:r>
              <a:rPr sz="1200" b="0" i="0">
                <a:solidFill>
                  <a:srgbClr val="2D2D2D"/>
                </a:solidFill>
              </a:rPr>
              <a:t>  • Useful for water allocation
planning</a:t>
            </a:r>
          </a:p>
        </p:txBody>
      </p:sp>
      <p:sp>
        <p:nvSpPr>
          <p:cNvPr id="11" name="Rectangle 10"/>
          <p:cNvSpPr/>
          <p:nvPr/>
        </p:nvSpPr>
        <p:spPr>
          <a:xfrm>
            <a:off x="7818120" y="1371600"/>
            <a:ext cx="3566160" cy="5029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955280" y="1463040"/>
            <a:ext cx="3291840" cy="4846320"/>
          </a:xfrm>
          <a:prstGeom prst="rect">
            <a:avLst/>
          </a:prstGeom>
          <a:noFill/>
        </p:spPr>
        <p:txBody>
          <a:bodyPr wrap="square">
            <a:spAutoFit/>
          </a:bodyPr>
          <a:lstStyle/>
          <a:p>
            <a:endParaRPr/>
          </a:p>
          <a:p>
            <a:pPr algn="l">
              <a:spcBef>
                <a:spcPts val="0"/>
              </a:spcBef>
            </a:pPr>
            <a:r>
              <a:rPr sz="1600" b="1" i="0">
                <a:solidFill>
                  <a:srgbClr val="007A8A"/>
                </a:solidFill>
              </a:rPr>
              <a:t>📊  Statistical Summary</a:t>
            </a:r>
          </a:p>
          <a:p>
            <a:pPr algn="l">
              <a:spcBef>
                <a:spcPts val="600"/>
              </a:spcBef>
            </a:pPr>
            <a:r>
              <a:rPr sz="1300" b="0" i="0">
                <a:solidFill>
                  <a:srgbClr val="2D2D2D"/>
                </a:solidFill>
              </a:rPr>
              <a:t>Compact table of key descriptive statistics for the complete daily record at a glance.</a:t>
            </a:r>
          </a:p>
          <a:p>
            <a:pPr algn="l">
              <a:spcBef>
                <a:spcPts val="400"/>
              </a:spcBef>
            </a:pPr>
            <a:endParaRPr sz="1300" b="0" i="0">
              <a:solidFill>
                <a:srgbClr val="2D2D2D"/>
              </a:solidFill>
            </a:endParaRPr>
          </a:p>
          <a:p>
            <a:pPr algn="l">
              <a:spcBef>
                <a:spcPts val="400"/>
              </a:spcBef>
            </a:pPr>
            <a:r>
              <a:rPr sz="1200" b="0" i="0">
                <a:solidFill>
                  <a:srgbClr val="2D2D2D"/>
                </a:solidFill>
              </a:rPr>
              <a:t>  • Mean, median, std deviation</a:t>
            </a:r>
          </a:p>
          <a:p>
            <a:pPr algn="l">
              <a:spcBef>
                <a:spcPts val="400"/>
              </a:spcBef>
            </a:pPr>
            <a:r>
              <a:rPr sz="1200" b="0" i="0">
                <a:solidFill>
                  <a:srgbClr val="2D2D2D"/>
                </a:solidFill>
              </a:rPr>
              <a:t>  • Min, Max, CV</a:t>
            </a:r>
          </a:p>
          <a:p>
            <a:pPr algn="l">
              <a:spcBef>
                <a:spcPts val="400"/>
              </a:spcBef>
            </a:pPr>
            <a:r>
              <a:rPr sz="1200" b="0" i="0">
                <a:solidFill>
                  <a:srgbClr val="2D2D2D"/>
                </a:solidFill>
              </a:rPr>
              <a:t>  • Record length &amp; completeness</a:t>
            </a:r>
          </a:p>
          <a:p>
            <a:pPr algn="l">
              <a:spcBef>
                <a:spcPts val="400"/>
              </a:spcBef>
            </a:pPr>
            <a:r>
              <a:rPr sz="1200" b="0" i="0">
                <a:solidFill>
                  <a:srgbClr val="2D2D2D"/>
                </a:solidFill>
              </a:rPr>
              <a:t>  • Annual peak statistics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2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143000"/>
          </a:xfrm>
          <a:prstGeom prst="rect">
            <a:avLst/>
          </a:prstGeom>
          <a:solidFill>
            <a:srgbClr val="0F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91440"/>
            <a:ext cx="10972800" cy="640080"/>
          </a:xfrm>
          <a:prstGeom prst="rect">
            <a:avLst/>
          </a:prstGeom>
          <a:noFill/>
        </p:spPr>
        <p:txBody>
          <a:bodyPr wrap="square">
            <a:spAutoFit/>
          </a:bodyPr>
          <a:lstStyle/>
          <a:p>
            <a:pPr algn="l"/>
            <a:r>
              <a:rPr sz="2800" b="1" i="0">
                <a:solidFill>
                  <a:srgbClr val="FFFFFF"/>
                </a:solidFill>
              </a:rPr>
              <a:t>Trend Analysis</a:t>
            </a:r>
          </a:p>
        </p:txBody>
      </p:sp>
      <p:sp>
        <p:nvSpPr>
          <p:cNvPr id="5" name="TextBox 4"/>
          <p:cNvSpPr txBox="1"/>
          <p:nvPr/>
        </p:nvSpPr>
        <p:spPr>
          <a:xfrm>
            <a:off x="457200" y="713232"/>
            <a:ext cx="10972800" cy="365760"/>
          </a:xfrm>
          <a:prstGeom prst="rect">
            <a:avLst/>
          </a:prstGeom>
          <a:noFill/>
        </p:spPr>
        <p:txBody>
          <a:bodyPr wrap="square">
            <a:spAutoFit/>
          </a:bodyPr>
          <a:lstStyle/>
          <a:p>
            <a:pPr algn="l"/>
            <a:r>
              <a:rPr sz="1500" b="0" i="0">
                <a:solidFill>
                  <a:srgbClr val="E0F4F7"/>
                </a:solidFill>
              </a:rPr>
              <a:t>Detect statistically significant long-term changes in streamflow</a:t>
            </a:r>
          </a:p>
        </p:txBody>
      </p:sp>
      <p:sp>
        <p:nvSpPr>
          <p:cNvPr id="6" name="Rectangle 5"/>
          <p:cNvSpPr/>
          <p:nvPr/>
        </p:nvSpPr>
        <p:spPr>
          <a:xfrm>
            <a:off x="0" y="1143000"/>
            <a:ext cx="12188952" cy="38100"/>
          </a:xfrm>
          <a:prstGeom prst="rect">
            <a:avLst/>
          </a:prstGeom>
          <a:solidFill>
            <a:srgbClr val="007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1325880"/>
            <a:ext cx="11430000" cy="5120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1463040"/>
            <a:ext cx="10881360" cy="4754880"/>
          </a:xfrm>
          <a:prstGeom prst="rect">
            <a:avLst/>
          </a:prstGeom>
          <a:noFill/>
        </p:spPr>
        <p:txBody>
          <a:bodyPr wrap="square">
            <a:spAutoFit/>
          </a:bodyPr>
          <a:lstStyle/>
          <a:p>
            <a:endParaRPr/>
          </a:p>
          <a:p>
            <a:pPr algn="l">
              <a:spcBef>
                <a:spcPts val="0"/>
              </a:spcBef>
            </a:pPr>
            <a:r>
              <a:rPr sz="2000" b="1" i="0">
                <a:solidFill>
                  <a:srgbClr val="007A8A"/>
                </a:solidFill>
              </a:rPr>
              <a:t>Mann-Kendall Trend Test</a:t>
            </a:r>
          </a:p>
          <a:p>
            <a:pPr algn="l">
              <a:spcBef>
                <a:spcPts val="800"/>
              </a:spcBef>
            </a:pPr>
            <a:r>
              <a:rPr sz="1500" b="0" i="0">
                <a:solidFill>
                  <a:srgbClr val="2D2D2D"/>
                </a:solidFill>
              </a:rPr>
              <a:t>The Mann-Kendall test is the standard non-parametric method for detecting monotonic trends in hydrological time series. It makes no assumptions about the underlying distribution of the data, making it robust even for skewed or non-normal streamflow records.</a:t>
            </a:r>
          </a:p>
          <a:p>
            <a:pPr algn="l">
              <a:spcBef>
                <a:spcPts val="400"/>
              </a:spcBef>
            </a:pPr>
            <a:endParaRPr sz="1500" b="0" i="0">
              <a:solidFill>
                <a:srgbClr val="2D2D2D"/>
              </a:solidFill>
            </a:endParaRPr>
          </a:p>
          <a:p>
            <a:pPr algn="l">
              <a:spcBef>
                <a:spcPts val="400"/>
              </a:spcBef>
            </a:pPr>
            <a:r>
              <a:rPr sz="1500" b="1" i="0">
                <a:solidFill>
                  <a:srgbClr val="007A8A"/>
                </a:solidFill>
              </a:rPr>
              <a:t>What the app reports:</a:t>
            </a:r>
          </a:p>
          <a:p>
            <a:pPr algn="l">
              <a:spcBef>
                <a:spcPts val="800"/>
              </a:spcBef>
            </a:pPr>
            <a:r>
              <a:rPr sz="1400" b="1" i="0">
                <a:solidFill>
                  <a:srgbClr val="0F2E5C"/>
                </a:solidFill>
              </a:rPr>
              <a:t>  ▸  Trend Direction:</a:t>
            </a:r>
          </a:p>
          <a:p>
            <a:pPr algn="l">
              <a:spcBef>
                <a:spcPts val="200"/>
              </a:spcBef>
            </a:pPr>
            <a:r>
              <a:rPr sz="1300" b="0" i="0">
                <a:solidFill>
                  <a:srgbClr val="2D2D2D"/>
                </a:solidFill>
              </a:rPr>
              <a:t>      Increasing / Decreasing / No trend — determined at the selected significance level (α = 0.05 or 0.01).</a:t>
            </a:r>
          </a:p>
          <a:p>
            <a:pPr algn="l">
              <a:spcBef>
                <a:spcPts val="800"/>
              </a:spcBef>
            </a:pPr>
            <a:r>
              <a:rPr sz="1400" b="1" i="0">
                <a:solidFill>
                  <a:srgbClr val="0F2E5C"/>
                </a:solidFill>
              </a:rPr>
              <a:t>  ▸  Sen's Slope:</a:t>
            </a:r>
          </a:p>
          <a:p>
            <a:pPr algn="l">
              <a:spcBef>
                <a:spcPts val="200"/>
              </a:spcBef>
            </a:pPr>
            <a:r>
              <a:rPr sz="1300" b="0" i="0">
                <a:solidFill>
                  <a:srgbClr val="2D2D2D"/>
                </a:solidFill>
              </a:rPr>
              <a:t>      Magnitude of the trend in m³/s per year (or m/yr for water level). A median-based robust slope estimator.</a:t>
            </a:r>
          </a:p>
          <a:p>
            <a:pPr algn="l">
              <a:spcBef>
                <a:spcPts val="800"/>
              </a:spcBef>
            </a:pPr>
            <a:r>
              <a:rPr sz="1400" b="1" i="0">
                <a:solidFill>
                  <a:srgbClr val="0F2E5C"/>
                </a:solidFill>
              </a:rPr>
              <a:t>  ▸  p-value:</a:t>
            </a:r>
          </a:p>
          <a:p>
            <a:pPr algn="l">
              <a:spcBef>
                <a:spcPts val="200"/>
              </a:spcBef>
            </a:pPr>
            <a:r>
              <a:rPr sz="1300" b="0" i="0">
                <a:solidFill>
                  <a:srgbClr val="2D2D2D"/>
                </a:solidFill>
              </a:rPr>
              <a:t>      Probability of observing the data under the null hypothesis of no trend. Values &lt; 0.05 are statistically significant.</a:t>
            </a:r>
          </a:p>
          <a:p>
            <a:pPr algn="l">
              <a:spcBef>
                <a:spcPts val="800"/>
              </a:spcBef>
            </a:pPr>
            <a:r>
              <a:rPr sz="1400" b="1" i="0">
                <a:solidFill>
                  <a:srgbClr val="0F2E5C"/>
                </a:solidFill>
              </a:rPr>
              <a:t>  ▸  Annual Peaks Trend:</a:t>
            </a:r>
          </a:p>
          <a:p>
            <a:pPr algn="l">
              <a:spcBef>
                <a:spcPts val="200"/>
              </a:spcBef>
            </a:pPr>
            <a:r>
              <a:rPr sz="1300" b="0" i="0">
                <a:solidFill>
                  <a:srgbClr val="2D2D2D"/>
                </a:solidFill>
              </a:rPr>
              <a:t>      Separate analysis on the annual maximum series to detect changes in flood magnitude over time.</a:t>
            </a:r>
          </a:p>
          <a:p>
            <a:pPr algn="l">
              <a:spcBef>
                <a:spcPts val="400"/>
              </a:spcBef>
            </a:pPr>
            <a:endParaRPr sz="1300" b="0" i="0">
              <a:solidFill>
                <a:srgbClr val="2D2D2D"/>
              </a:solidFill>
            </a:endParaRPr>
          </a:p>
          <a:p>
            <a:pPr algn="l">
              <a:spcBef>
                <a:spcPts val="400"/>
              </a:spcBef>
            </a:pPr>
            <a:r>
              <a:rPr sz="1400" b="0" i="1">
                <a:solidFill>
                  <a:srgbClr val="556570"/>
                </a:solidFill>
              </a:rPr>
              <a:t>Results are displayed with an annual time series plot and a Sen's slope regression line, so the direction and rate of change are immediately visible.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2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143000"/>
          </a:xfrm>
          <a:prstGeom prst="rect">
            <a:avLst/>
          </a:prstGeom>
          <a:solidFill>
            <a:srgbClr val="0F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91440"/>
            <a:ext cx="10972800" cy="640080"/>
          </a:xfrm>
          <a:prstGeom prst="rect">
            <a:avLst/>
          </a:prstGeom>
          <a:noFill/>
        </p:spPr>
        <p:txBody>
          <a:bodyPr wrap="square">
            <a:spAutoFit/>
          </a:bodyPr>
          <a:lstStyle/>
          <a:p>
            <a:pPr algn="l"/>
            <a:r>
              <a:rPr sz="2800" b="1" i="0">
                <a:solidFill>
                  <a:srgbClr val="FFFFFF"/>
                </a:solidFill>
              </a:rPr>
              <a:t>Flood Frequency Analysis (FFA)</a:t>
            </a:r>
          </a:p>
        </p:txBody>
      </p:sp>
      <p:sp>
        <p:nvSpPr>
          <p:cNvPr id="5" name="TextBox 4"/>
          <p:cNvSpPr txBox="1"/>
          <p:nvPr/>
        </p:nvSpPr>
        <p:spPr>
          <a:xfrm>
            <a:off x="457200" y="713232"/>
            <a:ext cx="10972800" cy="365760"/>
          </a:xfrm>
          <a:prstGeom prst="rect">
            <a:avLst/>
          </a:prstGeom>
          <a:noFill/>
        </p:spPr>
        <p:txBody>
          <a:bodyPr wrap="square">
            <a:spAutoFit/>
          </a:bodyPr>
          <a:lstStyle/>
          <a:p>
            <a:pPr algn="l"/>
            <a:r>
              <a:rPr sz="1500" b="0" i="0">
                <a:solidFill>
                  <a:srgbClr val="E0F4F7"/>
                </a:solidFill>
              </a:rPr>
              <a:t>Estimate design floods for any return period using multiple distributions</a:t>
            </a:r>
          </a:p>
        </p:txBody>
      </p:sp>
      <p:sp>
        <p:nvSpPr>
          <p:cNvPr id="6" name="Rectangle 5"/>
          <p:cNvSpPr/>
          <p:nvPr/>
        </p:nvSpPr>
        <p:spPr>
          <a:xfrm>
            <a:off x="0" y="1143000"/>
            <a:ext cx="12188952" cy="38100"/>
          </a:xfrm>
          <a:prstGeom prst="rect">
            <a:avLst/>
          </a:prstGeom>
          <a:solidFill>
            <a:srgbClr val="007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1325880"/>
            <a:ext cx="6766560" cy="5120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1463040"/>
            <a:ext cx="6492240" cy="4754880"/>
          </a:xfrm>
          <a:prstGeom prst="rect">
            <a:avLst/>
          </a:prstGeom>
          <a:noFill/>
        </p:spPr>
        <p:txBody>
          <a:bodyPr wrap="square">
            <a:spAutoFit/>
          </a:bodyPr>
          <a:lstStyle/>
          <a:p>
            <a:endParaRPr/>
          </a:p>
          <a:p>
            <a:pPr algn="l">
              <a:spcBef>
                <a:spcPts val="0"/>
              </a:spcBef>
            </a:pPr>
            <a:r>
              <a:rPr sz="1600" b="1" i="0">
                <a:solidFill>
                  <a:srgbClr val="007A8A"/>
                </a:solidFill>
              </a:rPr>
              <a:t>Annual Maximum Series (AMS) approach</a:t>
            </a:r>
          </a:p>
          <a:p>
            <a:pPr algn="l">
              <a:spcBef>
                <a:spcPts val="400"/>
              </a:spcBef>
            </a:pPr>
            <a:r>
              <a:rPr sz="1400" b="0" i="0">
                <a:solidFill>
                  <a:srgbClr val="2D2D2D"/>
                </a:solidFill>
              </a:rPr>
              <a:t>Fits multiple probability distributions to the annual peak flow series and selects the best fit using information criteria (AIC/BIC).</a:t>
            </a:r>
          </a:p>
          <a:p>
            <a:pPr algn="l">
              <a:spcBef>
                <a:spcPts val="400"/>
              </a:spcBef>
            </a:pPr>
            <a:endParaRPr sz="1400" b="0" i="0">
              <a:solidFill>
                <a:srgbClr val="2D2D2D"/>
              </a:solidFill>
            </a:endParaRPr>
          </a:p>
          <a:p>
            <a:pPr algn="l">
              <a:spcBef>
                <a:spcPts val="400"/>
              </a:spcBef>
            </a:pPr>
            <a:r>
              <a:rPr sz="1400" b="1" i="0">
                <a:solidFill>
                  <a:srgbClr val="007A8A"/>
                </a:solidFill>
              </a:rPr>
              <a:t>Distributions fitted:</a:t>
            </a:r>
          </a:p>
          <a:p>
            <a:pPr algn="l">
              <a:spcBef>
                <a:spcPts val="400"/>
              </a:spcBef>
            </a:pPr>
            <a:r>
              <a:rPr sz="1300" b="0" i="0">
                <a:solidFill>
                  <a:srgbClr val="2D2D2D"/>
                </a:solidFill>
              </a:rPr>
              <a:t>  • GEV  —  Generalised Extreme Value — most widely used for floods</a:t>
            </a:r>
          </a:p>
          <a:p>
            <a:pPr algn="l">
              <a:spcBef>
                <a:spcPts val="400"/>
              </a:spcBef>
            </a:pPr>
            <a:r>
              <a:rPr sz="1300" b="0" i="0">
                <a:solidFill>
                  <a:srgbClr val="2D2D2D"/>
                </a:solidFill>
              </a:rPr>
              <a:t>  • Gumbel  —  Special case of GEV; common in older Canadian practice</a:t>
            </a:r>
          </a:p>
          <a:p>
            <a:pPr algn="l">
              <a:spcBef>
                <a:spcPts val="400"/>
              </a:spcBef>
            </a:pPr>
            <a:r>
              <a:rPr sz="1300" b="0" i="0">
                <a:solidFill>
                  <a:srgbClr val="2D2D2D"/>
                </a:solidFill>
              </a:rPr>
              <a:t>  • LP3  —  Log-Pearson Type III — standard in US &amp; Canadian guidelines</a:t>
            </a:r>
          </a:p>
          <a:p>
            <a:pPr algn="l">
              <a:spcBef>
                <a:spcPts val="400"/>
              </a:spcBef>
            </a:pPr>
            <a:r>
              <a:rPr sz="1300" b="0" i="0">
                <a:solidFill>
                  <a:srgbClr val="2D2D2D"/>
                </a:solidFill>
              </a:rPr>
              <a:t>  • LN2  —  2-parameter Lognormal</a:t>
            </a:r>
          </a:p>
          <a:p>
            <a:pPr algn="l">
              <a:spcBef>
                <a:spcPts val="400"/>
              </a:spcBef>
            </a:pPr>
            <a:r>
              <a:rPr sz="1300" b="0" i="0">
                <a:solidFill>
                  <a:srgbClr val="2D2D2D"/>
                </a:solidFill>
              </a:rPr>
              <a:t>  • Pearson 3  —  Generalised gamma family</a:t>
            </a:r>
          </a:p>
          <a:p>
            <a:pPr algn="l">
              <a:spcBef>
                <a:spcPts val="400"/>
              </a:spcBef>
            </a:pPr>
            <a:endParaRPr sz="1300" b="0" i="0">
              <a:solidFill>
                <a:srgbClr val="2D2D2D"/>
              </a:solidFill>
            </a:endParaRPr>
          </a:p>
          <a:p>
            <a:pPr algn="l">
              <a:spcBef>
                <a:spcPts val="400"/>
              </a:spcBef>
            </a:pPr>
            <a:r>
              <a:rPr sz="1400" b="1" i="0">
                <a:solidFill>
                  <a:srgbClr val="007A8A"/>
                </a:solidFill>
              </a:rPr>
              <a:t>Parameter estimation:</a:t>
            </a:r>
          </a:p>
          <a:p>
            <a:pPr algn="l">
              <a:spcBef>
                <a:spcPts val="400"/>
              </a:spcBef>
            </a:pPr>
            <a:r>
              <a:rPr sz="1300" b="0" i="0">
                <a:solidFill>
                  <a:srgbClr val="2D2D2D"/>
                </a:solidFill>
              </a:rPr>
              <a:t>  L-moments (default) or Maximum Likelihood (MLE)</a:t>
            </a:r>
          </a:p>
          <a:p>
            <a:pPr algn="l">
              <a:spcBef>
                <a:spcPts val="400"/>
              </a:spcBef>
            </a:pPr>
            <a:endParaRPr sz="1300" b="0" i="0">
              <a:solidFill>
                <a:srgbClr val="2D2D2D"/>
              </a:solidFill>
            </a:endParaRPr>
          </a:p>
          <a:p>
            <a:pPr algn="l">
              <a:spcBef>
                <a:spcPts val="400"/>
              </a:spcBef>
            </a:pPr>
            <a:r>
              <a:rPr sz="1400" b="1" i="0">
                <a:solidFill>
                  <a:srgbClr val="007A8A"/>
                </a:solidFill>
              </a:rPr>
              <a:t>Confidence intervals:</a:t>
            </a:r>
          </a:p>
          <a:p>
            <a:pPr algn="l">
              <a:spcBef>
                <a:spcPts val="400"/>
              </a:spcBef>
            </a:pPr>
            <a:r>
              <a:rPr sz="1300" b="0" i="0">
                <a:solidFill>
                  <a:srgbClr val="2D2D2D"/>
                </a:solidFill>
              </a:rPr>
              <a:t>  90% bootstrap CI on all quantile estimates</a:t>
            </a:r>
          </a:p>
        </p:txBody>
      </p:sp>
      <p:sp>
        <p:nvSpPr>
          <p:cNvPr id="9" name="Rectangle 8"/>
          <p:cNvSpPr/>
          <p:nvPr/>
        </p:nvSpPr>
        <p:spPr>
          <a:xfrm>
            <a:off x="7360920" y="1325880"/>
            <a:ext cx="4480560" cy="5120640"/>
          </a:xfrm>
          <a:prstGeom prst="rect">
            <a:avLst/>
          </a:prstGeom>
          <a:solidFill>
            <a:srgbClr val="0F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543800" y="1463040"/>
            <a:ext cx="4160520" cy="4754880"/>
          </a:xfrm>
          <a:prstGeom prst="rect">
            <a:avLst/>
          </a:prstGeom>
          <a:noFill/>
        </p:spPr>
        <p:txBody>
          <a:bodyPr wrap="square">
            <a:spAutoFit/>
          </a:bodyPr>
          <a:lstStyle/>
          <a:p>
            <a:endParaRPr/>
          </a:p>
          <a:p>
            <a:pPr algn="l">
              <a:spcBef>
                <a:spcPts val="0"/>
              </a:spcBef>
            </a:pPr>
            <a:r>
              <a:rPr sz="1800" b="1" i="0">
                <a:solidFill>
                  <a:srgbClr val="FFFFFF"/>
                </a:solidFill>
              </a:rPr>
              <a:t>Outputs</a:t>
            </a:r>
          </a:p>
          <a:p>
            <a:pPr algn="l">
              <a:spcBef>
                <a:spcPts val="400"/>
              </a:spcBef>
            </a:pPr>
            <a:endParaRPr sz="1800" b="1" i="0">
              <a:solidFill>
                <a:srgbClr val="FFFFFF"/>
              </a:solidFill>
            </a:endParaRPr>
          </a:p>
          <a:p>
            <a:pPr algn="l">
              <a:spcBef>
                <a:spcPts val="1000"/>
              </a:spcBef>
            </a:pPr>
            <a:r>
              <a:rPr sz="1400" b="1" i="0">
                <a:solidFill>
                  <a:srgbClr val="E0F4F7"/>
                </a:solidFill>
              </a:rPr>
              <a:t>📈  Frequency curve</a:t>
            </a:r>
          </a:p>
          <a:p>
            <a:pPr algn="l">
              <a:spcBef>
                <a:spcPts val="200"/>
              </a:spcBef>
            </a:pPr>
            <a:r>
              <a:rPr sz="1200" b="0" i="0">
                <a:solidFill>
                  <a:srgbClr val="FFFFFF"/>
                </a:solidFill>
              </a:rPr>
              <a:t>Empirical plotting positions + fitted distribution lines on a log return-period axis</a:t>
            </a:r>
          </a:p>
          <a:p>
            <a:pPr algn="l">
              <a:spcBef>
                <a:spcPts val="1000"/>
              </a:spcBef>
            </a:pPr>
            <a:r>
              <a:rPr sz="1400" b="1" i="0">
                <a:solidFill>
                  <a:srgbClr val="E0F4F7"/>
                </a:solidFill>
              </a:rPr>
              <a:t>📋  Design flood table</a:t>
            </a:r>
          </a:p>
          <a:p>
            <a:pPr algn="l">
              <a:spcBef>
                <a:spcPts val="200"/>
              </a:spcBef>
            </a:pPr>
            <a:r>
              <a:rPr sz="1200" b="0" i="0">
                <a:solidFill>
                  <a:srgbClr val="FFFFFF"/>
                </a:solidFill>
              </a:rPr>
              <a:t>Quantiles (m³/s) for T = 2, 5, 10, 20, 50, 100, 200, 500 years</a:t>
            </a:r>
          </a:p>
          <a:p>
            <a:pPr algn="l">
              <a:spcBef>
                <a:spcPts val="1000"/>
              </a:spcBef>
            </a:pPr>
            <a:r>
              <a:rPr sz="1400" b="1" i="0">
                <a:solidFill>
                  <a:srgbClr val="E0F4F7"/>
                </a:solidFill>
              </a:rPr>
              <a:t>📐  Goodness-of-fit</a:t>
            </a:r>
          </a:p>
          <a:p>
            <a:pPr algn="l">
              <a:spcBef>
                <a:spcPts val="200"/>
              </a:spcBef>
            </a:pPr>
            <a:r>
              <a:rPr sz="1200" b="0" i="0">
                <a:solidFill>
                  <a:srgbClr val="FFFFFF"/>
                </a:solidFill>
              </a:rPr>
              <a:t>AIC / BIC scores and K-S test p-value for each distribution</a:t>
            </a:r>
          </a:p>
          <a:p>
            <a:pPr algn="l">
              <a:spcBef>
                <a:spcPts val="1000"/>
              </a:spcBef>
            </a:pPr>
            <a:r>
              <a:rPr sz="1400" b="1" i="0">
                <a:solidFill>
                  <a:srgbClr val="E0F4F7"/>
                </a:solidFill>
              </a:rPr>
              <a:t>🔄  Plotting positions</a:t>
            </a:r>
          </a:p>
          <a:p>
            <a:pPr algn="l">
              <a:spcBef>
                <a:spcPts val="200"/>
              </a:spcBef>
            </a:pPr>
            <a:r>
              <a:rPr sz="1200" b="0" i="0">
                <a:solidFill>
                  <a:srgbClr val="FFFFFF"/>
                </a:solidFill>
              </a:rPr>
              <a:t>Choice of Weibull, Hazen, or Cunnane</a:t>
            </a:r>
          </a:p>
          <a:p>
            <a:pPr algn="l">
              <a:spcBef>
                <a:spcPts val="1000"/>
              </a:spcBef>
            </a:pPr>
            <a:r>
              <a:rPr sz="1400" b="1" i="0">
                <a:solidFill>
                  <a:srgbClr val="E0F4F7"/>
                </a:solidFill>
              </a:rPr>
              <a:t>⚙️  Estimated-year toggle</a:t>
            </a:r>
          </a:p>
          <a:p>
            <a:pPr algn="l">
              <a:spcBef>
                <a:spcPts val="200"/>
              </a:spcBef>
            </a:pPr>
            <a:r>
              <a:rPr sz="1200" b="0" i="0">
                <a:solidFill>
                  <a:srgbClr val="FFFFFF"/>
                </a:solidFill>
              </a:rPr>
              <a:t>Option to exclude provisional or estimated records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2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143000"/>
          </a:xfrm>
          <a:prstGeom prst="rect">
            <a:avLst/>
          </a:prstGeom>
          <a:solidFill>
            <a:srgbClr val="0F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91440"/>
            <a:ext cx="10972800" cy="640080"/>
          </a:xfrm>
          <a:prstGeom prst="rect">
            <a:avLst/>
          </a:prstGeom>
          <a:noFill/>
        </p:spPr>
        <p:txBody>
          <a:bodyPr wrap="square">
            <a:spAutoFit/>
          </a:bodyPr>
          <a:lstStyle/>
          <a:p>
            <a:pPr algn="l"/>
            <a:r>
              <a:rPr sz="2800" b="1" i="0">
                <a:solidFill>
                  <a:srgbClr val="FFFFFF"/>
                </a:solidFill>
              </a:rPr>
              <a:t>Peaks Over Threshold (POT) Analysis</a:t>
            </a:r>
          </a:p>
        </p:txBody>
      </p:sp>
      <p:sp>
        <p:nvSpPr>
          <p:cNvPr id="5" name="TextBox 4"/>
          <p:cNvSpPr txBox="1"/>
          <p:nvPr/>
        </p:nvSpPr>
        <p:spPr>
          <a:xfrm>
            <a:off x="457200" y="713232"/>
            <a:ext cx="10972800" cy="365760"/>
          </a:xfrm>
          <a:prstGeom prst="rect">
            <a:avLst/>
          </a:prstGeom>
          <a:noFill/>
        </p:spPr>
        <p:txBody>
          <a:bodyPr wrap="square">
            <a:spAutoFit/>
          </a:bodyPr>
          <a:lstStyle/>
          <a:p>
            <a:pPr algn="l"/>
            <a:r>
              <a:rPr sz="1500" b="0" i="0">
                <a:solidFill>
                  <a:srgbClr val="E0F4F7"/>
                </a:solidFill>
              </a:rPr>
              <a:t>Partial duration series — more data points, better estimates for short records</a:t>
            </a:r>
          </a:p>
        </p:txBody>
      </p:sp>
      <p:sp>
        <p:nvSpPr>
          <p:cNvPr id="6" name="Rectangle 5"/>
          <p:cNvSpPr/>
          <p:nvPr/>
        </p:nvSpPr>
        <p:spPr>
          <a:xfrm>
            <a:off x="0" y="1143000"/>
            <a:ext cx="12188952" cy="38100"/>
          </a:xfrm>
          <a:prstGeom prst="rect">
            <a:avLst/>
          </a:prstGeom>
          <a:solidFill>
            <a:srgbClr val="007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1325880"/>
            <a:ext cx="11430000" cy="5120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1463040"/>
            <a:ext cx="10881360" cy="4754880"/>
          </a:xfrm>
          <a:prstGeom prst="rect">
            <a:avLst/>
          </a:prstGeom>
          <a:noFill/>
        </p:spPr>
        <p:txBody>
          <a:bodyPr wrap="square">
            <a:spAutoFit/>
          </a:bodyPr>
          <a:lstStyle/>
          <a:p>
            <a:endParaRPr/>
          </a:p>
          <a:p>
            <a:pPr algn="l">
              <a:spcBef>
                <a:spcPts val="0"/>
              </a:spcBef>
            </a:pPr>
            <a:r>
              <a:rPr sz="1800" b="1" i="0">
                <a:solidFill>
                  <a:srgbClr val="007A8A"/>
                </a:solidFill>
              </a:rPr>
              <a:t>Why POT?</a:t>
            </a:r>
          </a:p>
          <a:p>
            <a:pPr algn="l">
              <a:spcBef>
                <a:spcPts val="400"/>
              </a:spcBef>
            </a:pPr>
            <a:r>
              <a:rPr sz="1400" b="0" i="0">
                <a:solidFill>
                  <a:srgbClr val="2D2D2D"/>
                </a:solidFill>
              </a:rPr>
              <a:t>Traditional flood frequency analysis uses one peak per year (Annual Maximum Series). POT uses every independent flow event above a user-selected threshold — often 3–5× more data points for the same record length. This is especially valuable for stations with short records (&lt;20 years) where AMS gives too few data points for reliable fitting.</a:t>
            </a:r>
          </a:p>
          <a:p>
            <a:pPr algn="l">
              <a:spcBef>
                <a:spcPts val="400"/>
              </a:spcBef>
            </a:pPr>
            <a:endParaRPr sz="1400" b="0" i="0">
              <a:solidFill>
                <a:srgbClr val="2D2D2D"/>
              </a:solidFill>
            </a:endParaRPr>
          </a:p>
          <a:p>
            <a:pPr algn="l">
              <a:spcBef>
                <a:spcPts val="800"/>
              </a:spcBef>
            </a:pPr>
            <a:r>
              <a:rPr sz="1400" b="1" i="0">
                <a:solidFill>
                  <a:srgbClr val="0F2E5C"/>
                </a:solidFill>
              </a:rPr>
              <a:t>  ▸  Threshold selection:</a:t>
            </a:r>
          </a:p>
          <a:p>
            <a:pPr algn="l">
              <a:spcBef>
                <a:spcPts val="200"/>
              </a:spcBef>
            </a:pPr>
            <a:r>
              <a:rPr sz="1200" b="0" i="0">
                <a:solidFill>
                  <a:srgbClr val="2D2D2D"/>
                </a:solidFill>
              </a:rPr>
              <a:t>      Drag a slider to set the threshold as a percentile (e.g. Q90) or type a value in m³/s directly. The chart updates live.</a:t>
            </a:r>
          </a:p>
          <a:p>
            <a:pPr algn="l">
              <a:spcBef>
                <a:spcPts val="800"/>
              </a:spcBef>
            </a:pPr>
            <a:r>
              <a:rPr sz="1400" b="1" i="0">
                <a:solidFill>
                  <a:srgbClr val="0F2E5C"/>
                </a:solidFill>
              </a:rPr>
              <a:t>  ▸  Independence filter:</a:t>
            </a:r>
          </a:p>
          <a:p>
            <a:pPr algn="l">
              <a:spcBef>
                <a:spcPts val="200"/>
              </a:spcBef>
            </a:pPr>
            <a:r>
              <a:rPr sz="1200" b="0" i="0">
                <a:solidFill>
                  <a:srgbClr val="2D2D2D"/>
                </a:solidFill>
              </a:rPr>
              <a:t>      A minimum separation gap (3, 7, 14, or 30 days) ensures only independent peaks are included — no double-counting of the same event.</a:t>
            </a:r>
          </a:p>
          <a:p>
            <a:pPr algn="l">
              <a:spcBef>
                <a:spcPts val="800"/>
              </a:spcBef>
            </a:pPr>
            <a:r>
              <a:rPr sz="1400" b="1" i="0">
                <a:solidFill>
                  <a:srgbClr val="0F2E5C"/>
                </a:solidFill>
              </a:rPr>
              <a:t>  ▸  GPD fitting:</a:t>
            </a:r>
          </a:p>
          <a:p>
            <a:pPr algn="l">
              <a:spcBef>
                <a:spcPts val="200"/>
              </a:spcBef>
            </a:pPr>
            <a:r>
              <a:rPr sz="1200" b="0" i="0">
                <a:solidFill>
                  <a:srgbClr val="2D2D2D"/>
                </a:solidFill>
              </a:rPr>
              <a:t>      The Generalised Pareto Distribution (GPD) is fitted by L-moments (closed-form, no iteration). Shape and scale parameters are reported.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2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143000"/>
          </a:xfrm>
          <a:prstGeom prst="rect">
            <a:avLst/>
          </a:prstGeom>
          <a:solidFill>
            <a:srgbClr val="0F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91440"/>
            <a:ext cx="10972800" cy="640080"/>
          </a:xfrm>
          <a:prstGeom prst="rect">
            <a:avLst/>
          </a:prstGeom>
          <a:noFill/>
        </p:spPr>
        <p:txBody>
          <a:bodyPr wrap="square">
            <a:spAutoFit/>
          </a:bodyPr>
          <a:lstStyle/>
          <a:p>
            <a:pPr algn="l"/>
            <a:r>
              <a:rPr sz="2800" b="1" i="0">
                <a:solidFill>
                  <a:srgbClr val="FFFFFF"/>
                </a:solidFill>
              </a:rPr>
              <a:t>Printable PDF Report</a:t>
            </a:r>
          </a:p>
        </p:txBody>
      </p:sp>
      <p:sp>
        <p:nvSpPr>
          <p:cNvPr id="5" name="TextBox 4"/>
          <p:cNvSpPr txBox="1"/>
          <p:nvPr/>
        </p:nvSpPr>
        <p:spPr>
          <a:xfrm>
            <a:off x="457200" y="713232"/>
            <a:ext cx="10972800" cy="365760"/>
          </a:xfrm>
          <a:prstGeom prst="rect">
            <a:avLst/>
          </a:prstGeom>
          <a:noFill/>
        </p:spPr>
        <p:txBody>
          <a:bodyPr wrap="square">
            <a:spAutoFit/>
          </a:bodyPr>
          <a:lstStyle/>
          <a:p>
            <a:pPr algn="l"/>
            <a:r>
              <a:rPr sz="1500" b="0" i="0">
                <a:solidFill>
                  <a:srgbClr val="E0F4F7"/>
                </a:solidFill>
              </a:rPr>
              <a:t>One-click export of a complete station analysis for client deliverables</a:t>
            </a:r>
          </a:p>
        </p:txBody>
      </p:sp>
      <p:sp>
        <p:nvSpPr>
          <p:cNvPr id="6" name="Rectangle 5"/>
          <p:cNvSpPr/>
          <p:nvPr/>
        </p:nvSpPr>
        <p:spPr>
          <a:xfrm>
            <a:off x="0" y="1143000"/>
            <a:ext cx="12188952" cy="38100"/>
          </a:xfrm>
          <a:prstGeom prst="rect">
            <a:avLst/>
          </a:prstGeom>
          <a:solidFill>
            <a:srgbClr val="007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1325880"/>
            <a:ext cx="5394960" cy="5120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1463040"/>
            <a:ext cx="5074920" cy="4754880"/>
          </a:xfrm>
          <a:prstGeom prst="rect">
            <a:avLst/>
          </a:prstGeom>
          <a:noFill/>
        </p:spPr>
        <p:txBody>
          <a:bodyPr wrap="square">
            <a:spAutoFit/>
          </a:bodyPr>
          <a:lstStyle/>
          <a:p>
            <a:endParaRPr/>
          </a:p>
          <a:p>
            <a:pPr algn="l">
              <a:spcBef>
                <a:spcPts val="0"/>
              </a:spcBef>
            </a:pPr>
            <a:r>
              <a:rPr sz="1800" b="1" i="0">
                <a:solidFill>
                  <a:srgbClr val="007A8A"/>
                </a:solidFill>
              </a:rPr>
              <a:t>🖨️  Print / Save PDF</a:t>
            </a:r>
          </a:p>
          <a:p>
            <a:pPr algn="l">
              <a:spcBef>
                <a:spcPts val="400"/>
              </a:spcBef>
            </a:pPr>
            <a:r>
              <a:rPr sz="1400" b="0" i="0">
                <a:solidFill>
                  <a:srgbClr val="2D2D2D"/>
                </a:solidFill>
              </a:rPr>
              <a:t>Every station has a dedicated report page that assembles all key analyses into a single printable document. Click the Print button to open the browser's PDF dialog and save.</a:t>
            </a:r>
          </a:p>
          <a:p>
            <a:pPr algn="l">
              <a:spcBef>
                <a:spcPts val="400"/>
              </a:spcBef>
            </a:pPr>
            <a:endParaRPr sz="1400" b="0" i="0">
              <a:solidFill>
                <a:srgbClr val="2D2D2D"/>
              </a:solidFill>
            </a:endParaRPr>
          </a:p>
          <a:p>
            <a:pPr algn="l">
              <a:spcBef>
                <a:spcPts val="400"/>
              </a:spcBef>
            </a:pPr>
            <a:r>
              <a:rPr sz="1400" b="1" i="0">
                <a:solidFill>
                  <a:srgbClr val="007A8A"/>
                </a:solidFill>
              </a:rPr>
              <a:t>Report includes:</a:t>
            </a:r>
          </a:p>
          <a:p>
            <a:pPr algn="l">
              <a:spcBef>
                <a:spcPts val="400"/>
              </a:spcBef>
            </a:pPr>
            <a:r>
              <a:rPr sz="1200" b="0" i="0">
                <a:solidFill>
                  <a:srgbClr val="2D2D2D"/>
                </a:solidFill>
              </a:rPr>
              <a:t>  • Station metadata (ID, province, drainage area, record span)</a:t>
            </a:r>
          </a:p>
          <a:p>
            <a:pPr algn="l">
              <a:spcBef>
                <a:spcPts val="400"/>
              </a:spcBef>
            </a:pPr>
            <a:r>
              <a:rPr sz="1200" b="0" i="0">
                <a:solidFill>
                  <a:srgbClr val="2D2D2D"/>
                </a:solidFill>
              </a:rPr>
              <a:t>  • Full hydrograph</a:t>
            </a:r>
          </a:p>
          <a:p>
            <a:pPr algn="l">
              <a:spcBef>
                <a:spcPts val="400"/>
              </a:spcBef>
            </a:pPr>
            <a:r>
              <a:rPr sz="1200" b="0" i="0">
                <a:solidFill>
                  <a:srgbClr val="2D2D2D"/>
                </a:solidFill>
              </a:rPr>
              <a:t>  • Flow Duration Curve</a:t>
            </a:r>
          </a:p>
          <a:p>
            <a:pPr algn="l">
              <a:spcBef>
                <a:spcPts val="400"/>
              </a:spcBef>
            </a:pPr>
            <a:r>
              <a:rPr sz="1200" b="0" i="0">
                <a:solidFill>
                  <a:srgbClr val="2D2D2D"/>
                </a:solidFill>
              </a:rPr>
              <a:t>  • Annual Regime (mean + Q10–Q90 band)</a:t>
            </a:r>
          </a:p>
          <a:p>
            <a:pPr algn="l">
              <a:spcBef>
                <a:spcPts val="400"/>
              </a:spcBef>
            </a:pPr>
            <a:r>
              <a:rPr sz="1200" b="0" i="0">
                <a:solidFill>
                  <a:srgbClr val="2D2D2D"/>
                </a:solidFill>
              </a:rPr>
              <a:t>  • Annual peaks bar chart</a:t>
            </a:r>
          </a:p>
          <a:p>
            <a:pPr algn="l">
              <a:spcBef>
                <a:spcPts val="400"/>
              </a:spcBef>
            </a:pPr>
            <a:r>
              <a:rPr sz="1200" b="0" i="0">
                <a:solidFill>
                  <a:srgbClr val="2D2D2D"/>
                </a:solidFill>
              </a:rPr>
              <a:t>  • Flood frequency curve (best-fit distribution)</a:t>
            </a:r>
          </a:p>
          <a:p>
            <a:pPr algn="l">
              <a:spcBef>
                <a:spcPts val="400"/>
              </a:spcBef>
            </a:pPr>
            <a:r>
              <a:rPr sz="1200" b="0" i="0">
                <a:solidFill>
                  <a:srgbClr val="2D2D2D"/>
                </a:solidFill>
              </a:rPr>
              <a:t>  • Design flood quantile table</a:t>
            </a:r>
          </a:p>
          <a:p>
            <a:pPr algn="l">
              <a:spcBef>
                <a:spcPts val="400"/>
              </a:spcBef>
            </a:pPr>
            <a:r>
              <a:rPr sz="1200" b="0" i="0">
                <a:solidFill>
                  <a:srgbClr val="2D2D2D"/>
                </a:solidFill>
              </a:rPr>
              <a:t>  • Annual statistics table (year-by-year)</a:t>
            </a:r>
          </a:p>
          <a:p>
            <a:pPr algn="l">
              <a:spcBef>
                <a:spcPts val="400"/>
              </a:spcBef>
            </a:pPr>
            <a:r>
              <a:rPr sz="1200" b="0" i="0">
                <a:solidFill>
                  <a:srgbClr val="2D2D2D"/>
                </a:solidFill>
              </a:rPr>
              <a:t>  • Trend analysis summary paragraph</a:t>
            </a:r>
          </a:p>
          <a:p>
            <a:pPr algn="l">
              <a:spcBef>
                <a:spcPts val="400"/>
              </a:spcBef>
            </a:pPr>
            <a:r>
              <a:rPr sz="1200" b="0" i="0">
                <a:solidFill>
                  <a:srgbClr val="2D2D2D"/>
                </a:solidFill>
              </a:rPr>
              <a:t>  • Data attribution &amp; disclaimer footer</a:t>
            </a:r>
          </a:p>
        </p:txBody>
      </p:sp>
      <p:sp>
        <p:nvSpPr>
          <p:cNvPr id="9" name="Rectangle 8"/>
          <p:cNvSpPr/>
          <p:nvPr/>
        </p:nvSpPr>
        <p:spPr>
          <a:xfrm>
            <a:off x="5989320" y="1325880"/>
            <a:ext cx="5852160" cy="5120640"/>
          </a:xfrm>
          <a:prstGeom prst="rect">
            <a:avLst/>
          </a:prstGeom>
          <a:solidFill>
            <a:srgbClr val="0F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172200" y="1463040"/>
            <a:ext cx="5486400" cy="4754880"/>
          </a:xfrm>
          <a:prstGeom prst="rect">
            <a:avLst/>
          </a:prstGeom>
          <a:noFill/>
        </p:spPr>
        <p:txBody>
          <a:bodyPr wrap="square">
            <a:spAutoFit/>
          </a:bodyPr>
          <a:lstStyle/>
          <a:p>
            <a:endParaRPr/>
          </a:p>
          <a:p>
            <a:pPr algn="l">
              <a:spcBef>
                <a:spcPts val="0"/>
              </a:spcBef>
            </a:pPr>
            <a:r>
              <a:rPr sz="1800" b="1" i="0">
                <a:solidFill>
                  <a:srgbClr val="FFFFFF"/>
                </a:solidFill>
              </a:rPr>
              <a:t>Report Design</a:t>
            </a:r>
          </a:p>
          <a:p>
            <a:pPr algn="l">
              <a:spcBef>
                <a:spcPts val="400"/>
              </a:spcBef>
            </a:pPr>
            <a:endParaRPr sz="1800" b="1" i="0">
              <a:solidFill>
                <a:srgbClr val="FFFFFF"/>
              </a:solidFill>
            </a:endParaRPr>
          </a:p>
          <a:p>
            <a:pPr algn="l">
              <a:spcBef>
                <a:spcPts val="1000"/>
              </a:spcBef>
            </a:pPr>
            <a:r>
              <a:rPr sz="1400" b="1" i="0">
                <a:solidFill>
                  <a:srgbClr val="E0F4F7"/>
                </a:solidFill>
              </a:rPr>
              <a:t>▸  Print-optimised layout</a:t>
            </a:r>
          </a:p>
          <a:p>
            <a:pPr algn="l">
              <a:spcBef>
                <a:spcPts val="300"/>
              </a:spcBef>
            </a:pPr>
            <a:r>
              <a:rPr sz="1200" b="0" i="0">
                <a:solidFill>
                  <a:srgbClr val="FFFFFF"/>
                </a:solidFill>
              </a:rPr>
              <a:t>All interactive elements (buttons, nav, methodology panels) are automatically hidden in print mode via CSS @media print rules.</a:t>
            </a:r>
          </a:p>
          <a:p>
            <a:pPr algn="l">
              <a:spcBef>
                <a:spcPts val="1000"/>
              </a:spcBef>
            </a:pPr>
            <a:r>
              <a:rPr sz="1400" b="1" i="0">
                <a:solidFill>
                  <a:srgbClr val="E0F4F7"/>
                </a:solidFill>
              </a:rPr>
              <a:t>▸  Static charts</a:t>
            </a:r>
          </a:p>
          <a:p>
            <a:pPr algn="l">
              <a:spcBef>
                <a:spcPts val="300"/>
              </a:spcBef>
            </a:pPr>
            <a:r>
              <a:rPr sz="1200" b="0" i="0">
                <a:solidFill>
                  <a:srgbClr val="FFFFFF"/>
                </a:solidFill>
              </a:rPr>
              <a:t>Plotly charts switch to a static, high-fidelity render for print — no toolbars or hover overlays.</a:t>
            </a:r>
          </a:p>
          <a:p>
            <a:pPr algn="l">
              <a:spcBef>
                <a:spcPts val="1000"/>
              </a:spcBef>
            </a:pPr>
            <a:r>
              <a:rPr sz="1400" b="1" i="0">
                <a:solidFill>
                  <a:srgbClr val="E0F4F7"/>
                </a:solidFill>
              </a:rPr>
              <a:t>▸  Page breaks</a:t>
            </a:r>
          </a:p>
          <a:p>
            <a:pPr algn="l">
              <a:spcBef>
                <a:spcPts val="300"/>
              </a:spcBef>
            </a:pPr>
            <a:r>
              <a:rPr sz="1200" b="0" i="0">
                <a:solidFill>
                  <a:srgbClr val="FFFFFF"/>
                </a:solidFill>
              </a:rPr>
              <a:t>Each analysis section starts on a fresh page so the report flows cleanly across A4 or Letter paper.</a:t>
            </a:r>
          </a:p>
          <a:p>
            <a:pPr algn="l">
              <a:spcBef>
                <a:spcPts val="1000"/>
              </a:spcBef>
            </a:pPr>
            <a:r>
              <a:rPr sz="1400" b="1" i="0">
                <a:solidFill>
                  <a:srgbClr val="E0F4F7"/>
                </a:solidFill>
              </a:rPr>
              <a:t>▸  URL to share</a:t>
            </a:r>
          </a:p>
          <a:p>
            <a:pPr algn="l">
              <a:spcBef>
                <a:spcPts val="300"/>
              </a:spcBef>
            </a:pPr>
            <a:r>
              <a:rPr sz="1200" b="0" i="0">
                <a:solidFill>
                  <a:srgbClr val="FFFFFF"/>
                </a:solidFill>
              </a:rPr>
              <a:t>The report URL (/stations/XXXXX/report) can be bookmarked or sent directly to colleagues.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2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143000"/>
          </a:xfrm>
          <a:prstGeom prst="rect">
            <a:avLst/>
          </a:prstGeom>
          <a:solidFill>
            <a:srgbClr val="0F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91440"/>
            <a:ext cx="10972800" cy="640080"/>
          </a:xfrm>
          <a:prstGeom prst="rect">
            <a:avLst/>
          </a:prstGeom>
          <a:noFill/>
        </p:spPr>
        <p:txBody>
          <a:bodyPr wrap="square">
            <a:spAutoFit/>
          </a:bodyPr>
          <a:lstStyle/>
          <a:p>
            <a:pPr algn="l"/>
            <a:r>
              <a:rPr sz="2800" b="1" i="0">
                <a:solidFill>
                  <a:srgbClr val="FFFFFF"/>
                </a:solidFill>
              </a:rPr>
              <a:t>Methodology Transparency</a:t>
            </a:r>
          </a:p>
        </p:txBody>
      </p:sp>
      <p:sp>
        <p:nvSpPr>
          <p:cNvPr id="5" name="TextBox 4"/>
          <p:cNvSpPr txBox="1"/>
          <p:nvPr/>
        </p:nvSpPr>
        <p:spPr>
          <a:xfrm>
            <a:off x="457200" y="713232"/>
            <a:ext cx="10972800" cy="365760"/>
          </a:xfrm>
          <a:prstGeom prst="rect">
            <a:avLst/>
          </a:prstGeom>
          <a:noFill/>
        </p:spPr>
        <p:txBody>
          <a:bodyPr wrap="square">
            <a:spAutoFit/>
          </a:bodyPr>
          <a:lstStyle/>
          <a:p>
            <a:pPr algn="l"/>
            <a:r>
              <a:rPr sz="1500" b="0" i="0">
                <a:solidFill>
                  <a:srgbClr val="E0F4F7"/>
                </a:solidFill>
              </a:rPr>
              <a:t>Every analysis tab includes an expandable explanation of the method used</a:t>
            </a:r>
          </a:p>
        </p:txBody>
      </p:sp>
      <p:sp>
        <p:nvSpPr>
          <p:cNvPr id="6" name="Rectangle 5"/>
          <p:cNvSpPr/>
          <p:nvPr/>
        </p:nvSpPr>
        <p:spPr>
          <a:xfrm>
            <a:off x="0" y="1143000"/>
            <a:ext cx="12188952" cy="38100"/>
          </a:xfrm>
          <a:prstGeom prst="rect">
            <a:avLst/>
          </a:prstGeom>
          <a:solidFill>
            <a:srgbClr val="007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1325880"/>
            <a:ext cx="11430000" cy="5120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1463040"/>
            <a:ext cx="10881360" cy="4754880"/>
          </a:xfrm>
          <a:prstGeom prst="rect">
            <a:avLst/>
          </a:prstGeom>
          <a:noFill/>
        </p:spPr>
        <p:txBody>
          <a:bodyPr wrap="square">
            <a:spAutoFit/>
          </a:bodyPr>
          <a:lstStyle/>
          <a:p>
            <a:endParaRPr/>
          </a:p>
          <a:p>
            <a:pPr algn="l">
              <a:spcBef>
                <a:spcPts val="0"/>
              </a:spcBef>
            </a:pPr>
            <a:r>
              <a:rPr sz="1500" b="0" i="0">
                <a:solidFill>
                  <a:srgbClr val="2D2D2D"/>
                </a:solidFill>
              </a:rPr>
              <a:t>Each analysis tab has an 'ℹ About this analysis' accordion panel at the bottom of the page. Expanding it reveals a plain-English explanation of the method, the assumptions made, and peer-reviewed references — so any team member can understand exactly how a result was produced.</a:t>
            </a:r>
          </a:p>
          <a:p>
            <a:pPr algn="l">
              <a:spcBef>
                <a:spcPts val="400"/>
              </a:spcBef>
            </a:pPr>
            <a:endParaRPr sz="1500" b="0" i="0">
              <a:solidFill>
                <a:srgbClr val="2D2D2D"/>
              </a:solidFill>
            </a:endParaRPr>
          </a:p>
          <a:p>
            <a:pPr algn="l">
              <a:spcBef>
                <a:spcPts val="400"/>
              </a:spcBef>
            </a:pPr>
            <a:r>
              <a:rPr sz="1500" b="1" i="0">
                <a:solidFill>
                  <a:srgbClr val="007A8A"/>
                </a:solidFill>
              </a:rPr>
              <a:t>Covered in every tab:</a:t>
            </a:r>
          </a:p>
          <a:p>
            <a:pPr algn="l">
              <a:spcBef>
                <a:spcPts val="500"/>
              </a:spcBef>
            </a:pPr>
            <a:r>
              <a:rPr sz="1200" b="0" i="0">
                <a:solidFill>
                  <a:srgbClr val="2D2D2D"/>
                </a:solidFill>
              </a:rPr>
              <a:t>  • Hydrograph:  What daily mean discharge represents; ECCC data collection methods</a:t>
            </a:r>
          </a:p>
          <a:p>
            <a:pPr algn="l">
              <a:spcBef>
                <a:spcPts val="500"/>
              </a:spcBef>
            </a:pPr>
            <a:r>
              <a:rPr sz="1200" b="0" i="0">
                <a:solidFill>
                  <a:srgbClr val="2D2D2D"/>
                </a:solidFill>
              </a:rPr>
              <a:t>  • Flow Duration Curve:  Exceedance probability calculation; interpretation of Q10/Q50/Q90</a:t>
            </a:r>
          </a:p>
          <a:p>
            <a:pPr algn="l">
              <a:spcBef>
                <a:spcPts val="500"/>
              </a:spcBef>
            </a:pPr>
            <a:r>
              <a:rPr sz="1200" b="0" i="0">
                <a:solidFill>
                  <a:srgbClr val="2D2D2D"/>
                </a:solidFill>
              </a:rPr>
              <a:t>  • Annual Regime:  Climatological averaging; interpretation of seasonality</a:t>
            </a:r>
          </a:p>
          <a:p>
            <a:pPr algn="l">
              <a:spcBef>
                <a:spcPts val="500"/>
              </a:spcBef>
            </a:pPr>
            <a:r>
              <a:rPr sz="1200" b="0" i="0">
                <a:solidFill>
                  <a:srgbClr val="2D2D2D"/>
                </a:solidFill>
              </a:rPr>
              <a:t>  • Annual Statistics:  How annual maxima, minima, and volumes are derived</a:t>
            </a:r>
          </a:p>
          <a:p>
            <a:pPr algn="l">
              <a:spcBef>
                <a:spcPts val="500"/>
              </a:spcBef>
            </a:pPr>
            <a:r>
              <a:rPr sz="1200" b="0" i="0">
                <a:solidFill>
                  <a:srgbClr val="2D2D2D"/>
                </a:solidFill>
              </a:rPr>
              <a:t>  • Low Flow:  7Q10 derivation; relevance to environmental flows</a:t>
            </a:r>
          </a:p>
          <a:p>
            <a:pPr algn="l">
              <a:spcBef>
                <a:spcPts val="500"/>
              </a:spcBef>
            </a:pPr>
            <a:r>
              <a:rPr sz="1200" b="0" i="0">
                <a:solidFill>
                  <a:srgbClr val="2D2D2D"/>
                </a:solidFill>
              </a:rPr>
              <a:t>  • Trend Analysis:  Mann-Kendall theory; Sen's slope; significance testing</a:t>
            </a:r>
          </a:p>
          <a:p>
            <a:pPr algn="l">
              <a:spcBef>
                <a:spcPts val="500"/>
              </a:spcBef>
            </a:pPr>
            <a:r>
              <a:rPr sz="1200" b="0" i="0">
                <a:solidFill>
                  <a:srgbClr val="2D2D2D"/>
                </a:solidFill>
              </a:rPr>
              <a:t>  • Flood Frequency:  AMS approach; L-moments vs MLE; AIC model selection</a:t>
            </a:r>
          </a:p>
          <a:p>
            <a:pPr algn="l">
              <a:spcBef>
                <a:spcPts val="500"/>
              </a:spcBef>
            </a:pPr>
            <a:r>
              <a:rPr sz="1200" b="0" i="0">
                <a:solidFill>
                  <a:srgbClr val="2D2D2D"/>
                </a:solidFill>
              </a:rPr>
              <a:t>  • POT Analysis:  GPD theory; Poisson process assumption; threshold selection guidance</a:t>
            </a:r>
          </a:p>
          <a:p>
            <a:pPr algn="l">
              <a:spcBef>
                <a:spcPts val="500"/>
              </a:spcBef>
            </a:pPr>
            <a:r>
              <a:rPr sz="1200" b="0" i="0">
                <a:solidFill>
                  <a:srgbClr val="2D2D2D"/>
                </a:solidFill>
              </a:rPr>
              <a:t>  • Baseflow:  Lyne-Hollick and Eckhardt filter equations; BFI interpretation</a:t>
            </a:r>
          </a:p>
          <a:p>
            <a:pPr algn="l">
              <a:spcBef>
                <a:spcPts val="500"/>
              </a:spcBef>
            </a:pPr>
            <a:r>
              <a:rPr sz="1200" b="0" i="0">
                <a:solidFill>
                  <a:srgbClr val="2D2D2D"/>
                </a:solidFill>
              </a:rPr>
              <a:t>  • Goodness of Fit:  K-S test; AIC/BIC; how to interpret scores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2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143000"/>
          </a:xfrm>
          <a:prstGeom prst="rect">
            <a:avLst/>
          </a:prstGeom>
          <a:solidFill>
            <a:srgbClr val="0F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91440"/>
            <a:ext cx="10972800" cy="640080"/>
          </a:xfrm>
          <a:prstGeom prst="rect">
            <a:avLst/>
          </a:prstGeom>
          <a:noFill/>
        </p:spPr>
        <p:txBody>
          <a:bodyPr wrap="square">
            <a:spAutoFit/>
          </a:bodyPr>
          <a:lstStyle/>
          <a:p>
            <a:pPr algn="l"/>
            <a:r>
              <a:rPr sz="2800" b="1" i="0">
                <a:solidFill>
                  <a:srgbClr val="FFFFFF"/>
                </a:solidFill>
              </a:rPr>
              <a:t>Technology Stack</a:t>
            </a:r>
          </a:p>
        </p:txBody>
      </p:sp>
      <p:sp>
        <p:nvSpPr>
          <p:cNvPr id="5" name="TextBox 4"/>
          <p:cNvSpPr txBox="1"/>
          <p:nvPr/>
        </p:nvSpPr>
        <p:spPr>
          <a:xfrm>
            <a:off x="457200" y="713232"/>
            <a:ext cx="10972800" cy="365760"/>
          </a:xfrm>
          <a:prstGeom prst="rect">
            <a:avLst/>
          </a:prstGeom>
          <a:noFill/>
        </p:spPr>
        <p:txBody>
          <a:bodyPr wrap="square">
            <a:spAutoFit/>
          </a:bodyPr>
          <a:lstStyle/>
          <a:p>
            <a:pPr algn="l"/>
            <a:r>
              <a:rPr sz="1500" b="0" i="0">
                <a:solidFill>
                  <a:srgbClr val="E0F4F7"/>
                </a:solidFill>
              </a:rPr>
              <a:t>Modern, open-source, cloud-hosted — no licences required</a:t>
            </a:r>
          </a:p>
        </p:txBody>
      </p:sp>
      <p:sp>
        <p:nvSpPr>
          <p:cNvPr id="6" name="Rectangle 5"/>
          <p:cNvSpPr/>
          <p:nvPr/>
        </p:nvSpPr>
        <p:spPr>
          <a:xfrm>
            <a:off x="0" y="1143000"/>
            <a:ext cx="12188952" cy="38100"/>
          </a:xfrm>
          <a:prstGeom prst="rect">
            <a:avLst/>
          </a:prstGeom>
          <a:solidFill>
            <a:srgbClr val="007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1371600"/>
            <a:ext cx="3566160" cy="2194560"/>
          </a:xfrm>
          <a:prstGeom prst="rect">
            <a:avLst/>
          </a:prstGeom>
          <a:solidFill>
            <a:srgbClr val="FFFFFF"/>
          </a:solidFill>
          <a:ln w="19050">
            <a:solidFill>
              <a:srgbClr val="007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75488" y="1463040"/>
            <a:ext cx="3383280" cy="347472"/>
          </a:xfrm>
          <a:prstGeom prst="rect">
            <a:avLst/>
          </a:prstGeom>
          <a:noFill/>
        </p:spPr>
        <p:txBody>
          <a:bodyPr wrap="square">
            <a:spAutoFit/>
          </a:bodyPr>
          <a:lstStyle/>
          <a:p>
            <a:pPr algn="l"/>
            <a:r>
              <a:rPr sz="1400" b="1" i="0">
                <a:solidFill>
                  <a:srgbClr val="007A8A"/>
                </a:solidFill>
              </a:rPr>
              <a:t>🖥️  Frontend</a:t>
            </a:r>
          </a:p>
        </p:txBody>
      </p:sp>
      <p:sp>
        <p:nvSpPr>
          <p:cNvPr id="9" name="TextBox 8"/>
          <p:cNvSpPr txBox="1"/>
          <p:nvPr/>
        </p:nvSpPr>
        <p:spPr>
          <a:xfrm>
            <a:off x="475488" y="1828800"/>
            <a:ext cx="3383280" cy="274320"/>
          </a:xfrm>
          <a:prstGeom prst="rect">
            <a:avLst/>
          </a:prstGeom>
          <a:noFill/>
        </p:spPr>
        <p:txBody>
          <a:bodyPr wrap="square">
            <a:spAutoFit/>
          </a:bodyPr>
          <a:lstStyle/>
          <a:p>
            <a:pPr algn="l"/>
            <a:r>
              <a:rPr sz="1100" b="0" i="0">
                <a:solidFill>
                  <a:srgbClr val="2D2D2D"/>
                </a:solidFill>
              </a:rPr>
              <a:t>  • Next.js 16 (React)</a:t>
            </a:r>
          </a:p>
        </p:txBody>
      </p:sp>
      <p:sp>
        <p:nvSpPr>
          <p:cNvPr id="10" name="TextBox 9"/>
          <p:cNvSpPr txBox="1"/>
          <p:nvPr/>
        </p:nvSpPr>
        <p:spPr>
          <a:xfrm>
            <a:off x="475488" y="2103120"/>
            <a:ext cx="3383280" cy="274320"/>
          </a:xfrm>
          <a:prstGeom prst="rect">
            <a:avLst/>
          </a:prstGeom>
          <a:noFill/>
        </p:spPr>
        <p:txBody>
          <a:bodyPr wrap="square">
            <a:spAutoFit/>
          </a:bodyPr>
          <a:lstStyle/>
          <a:p>
            <a:pPr algn="l"/>
            <a:r>
              <a:rPr sz="1100" b="0" i="0">
                <a:solidFill>
                  <a:srgbClr val="2D2D2D"/>
                </a:solidFill>
              </a:rPr>
              <a:t>  • TypeScript</a:t>
            </a:r>
          </a:p>
        </p:txBody>
      </p:sp>
      <p:sp>
        <p:nvSpPr>
          <p:cNvPr id="11" name="TextBox 10"/>
          <p:cNvSpPr txBox="1"/>
          <p:nvPr/>
        </p:nvSpPr>
        <p:spPr>
          <a:xfrm>
            <a:off x="475488" y="2377440"/>
            <a:ext cx="3383280" cy="274320"/>
          </a:xfrm>
          <a:prstGeom prst="rect">
            <a:avLst/>
          </a:prstGeom>
          <a:noFill/>
        </p:spPr>
        <p:txBody>
          <a:bodyPr wrap="square">
            <a:spAutoFit/>
          </a:bodyPr>
          <a:lstStyle/>
          <a:p>
            <a:pPr algn="l"/>
            <a:r>
              <a:rPr sz="1100" b="0" i="0">
                <a:solidFill>
                  <a:srgbClr val="2D2D2D"/>
                </a:solidFill>
              </a:rPr>
              <a:t>  • Tailwind CSS</a:t>
            </a:r>
          </a:p>
        </p:txBody>
      </p:sp>
      <p:sp>
        <p:nvSpPr>
          <p:cNvPr id="12" name="TextBox 11"/>
          <p:cNvSpPr txBox="1"/>
          <p:nvPr/>
        </p:nvSpPr>
        <p:spPr>
          <a:xfrm>
            <a:off x="475488" y="2651760"/>
            <a:ext cx="3383280" cy="274320"/>
          </a:xfrm>
          <a:prstGeom prst="rect">
            <a:avLst/>
          </a:prstGeom>
          <a:noFill/>
        </p:spPr>
        <p:txBody>
          <a:bodyPr wrap="square">
            <a:spAutoFit/>
          </a:bodyPr>
          <a:lstStyle/>
          <a:p>
            <a:pPr algn="l"/>
            <a:r>
              <a:rPr sz="1100" b="0" i="0">
                <a:solidFill>
                  <a:srgbClr val="2D2D2D"/>
                </a:solidFill>
              </a:rPr>
              <a:t>  • Plotly.js charts</a:t>
            </a:r>
          </a:p>
        </p:txBody>
      </p:sp>
      <p:sp>
        <p:nvSpPr>
          <p:cNvPr id="13" name="TextBox 12"/>
          <p:cNvSpPr txBox="1"/>
          <p:nvPr/>
        </p:nvSpPr>
        <p:spPr>
          <a:xfrm>
            <a:off x="475488" y="2926080"/>
            <a:ext cx="3383280" cy="274320"/>
          </a:xfrm>
          <a:prstGeom prst="rect">
            <a:avLst/>
          </a:prstGeom>
          <a:noFill/>
        </p:spPr>
        <p:txBody>
          <a:bodyPr wrap="square">
            <a:spAutoFit/>
          </a:bodyPr>
          <a:lstStyle/>
          <a:p>
            <a:pPr algn="l"/>
            <a:r>
              <a:rPr sz="1100" b="0" i="0">
                <a:solidFill>
                  <a:srgbClr val="2D2D2D"/>
                </a:solidFill>
              </a:rPr>
              <a:t>  • Leaflet maps</a:t>
            </a:r>
          </a:p>
        </p:txBody>
      </p:sp>
      <p:sp>
        <p:nvSpPr>
          <p:cNvPr id="14" name="Rectangle 13"/>
          <p:cNvSpPr/>
          <p:nvPr/>
        </p:nvSpPr>
        <p:spPr>
          <a:xfrm>
            <a:off x="4160520" y="1371600"/>
            <a:ext cx="3566160" cy="2194560"/>
          </a:xfrm>
          <a:prstGeom prst="rect">
            <a:avLst/>
          </a:prstGeom>
          <a:solidFill>
            <a:srgbClr val="FFFFFF"/>
          </a:solidFill>
          <a:ln w="19050">
            <a:solidFill>
              <a:srgbClr val="007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270248" y="1463040"/>
            <a:ext cx="3383280" cy="347472"/>
          </a:xfrm>
          <a:prstGeom prst="rect">
            <a:avLst/>
          </a:prstGeom>
          <a:noFill/>
        </p:spPr>
        <p:txBody>
          <a:bodyPr wrap="square">
            <a:spAutoFit/>
          </a:bodyPr>
          <a:lstStyle/>
          <a:p>
            <a:pPr algn="l"/>
            <a:r>
              <a:rPr sz="1400" b="1" i="0">
                <a:solidFill>
                  <a:srgbClr val="007A8A"/>
                </a:solidFill>
              </a:rPr>
              <a:t>⚙️  Backend (FFA Engine)</a:t>
            </a:r>
          </a:p>
        </p:txBody>
      </p:sp>
      <p:sp>
        <p:nvSpPr>
          <p:cNvPr id="16" name="TextBox 15"/>
          <p:cNvSpPr txBox="1"/>
          <p:nvPr/>
        </p:nvSpPr>
        <p:spPr>
          <a:xfrm>
            <a:off x="4270248" y="1828800"/>
            <a:ext cx="3383280" cy="274320"/>
          </a:xfrm>
          <a:prstGeom prst="rect">
            <a:avLst/>
          </a:prstGeom>
          <a:noFill/>
        </p:spPr>
        <p:txBody>
          <a:bodyPr wrap="square">
            <a:spAutoFit/>
          </a:bodyPr>
          <a:lstStyle/>
          <a:p>
            <a:pPr algn="l"/>
            <a:r>
              <a:rPr sz="1100" b="0" i="0">
                <a:solidFill>
                  <a:srgbClr val="2D2D2D"/>
                </a:solidFill>
              </a:rPr>
              <a:t>  • Python 3.12</a:t>
            </a:r>
          </a:p>
        </p:txBody>
      </p:sp>
      <p:sp>
        <p:nvSpPr>
          <p:cNvPr id="17" name="TextBox 16"/>
          <p:cNvSpPr txBox="1"/>
          <p:nvPr/>
        </p:nvSpPr>
        <p:spPr>
          <a:xfrm>
            <a:off x="4270248" y="2103120"/>
            <a:ext cx="3383280" cy="274320"/>
          </a:xfrm>
          <a:prstGeom prst="rect">
            <a:avLst/>
          </a:prstGeom>
          <a:noFill/>
        </p:spPr>
        <p:txBody>
          <a:bodyPr wrap="square">
            <a:spAutoFit/>
          </a:bodyPr>
          <a:lstStyle/>
          <a:p>
            <a:pPr algn="l"/>
            <a:r>
              <a:rPr sz="1100" b="0" i="0">
                <a:solidFill>
                  <a:srgbClr val="2D2D2D"/>
                </a:solidFill>
              </a:rPr>
              <a:t>  • FastAPI</a:t>
            </a:r>
          </a:p>
        </p:txBody>
      </p:sp>
      <p:sp>
        <p:nvSpPr>
          <p:cNvPr id="18" name="TextBox 17"/>
          <p:cNvSpPr txBox="1"/>
          <p:nvPr/>
        </p:nvSpPr>
        <p:spPr>
          <a:xfrm>
            <a:off x="4270248" y="2377440"/>
            <a:ext cx="3383280" cy="274320"/>
          </a:xfrm>
          <a:prstGeom prst="rect">
            <a:avLst/>
          </a:prstGeom>
          <a:noFill/>
        </p:spPr>
        <p:txBody>
          <a:bodyPr wrap="square">
            <a:spAutoFit/>
          </a:bodyPr>
          <a:lstStyle/>
          <a:p>
            <a:pPr algn="l"/>
            <a:r>
              <a:rPr sz="1100" b="0" i="0">
                <a:solidFill>
                  <a:srgbClr val="2D2D2D"/>
                </a:solidFill>
              </a:rPr>
              <a:t>  • lmoments3</a:t>
            </a:r>
          </a:p>
        </p:txBody>
      </p:sp>
      <p:sp>
        <p:nvSpPr>
          <p:cNvPr id="19" name="TextBox 18"/>
          <p:cNvSpPr txBox="1"/>
          <p:nvPr/>
        </p:nvSpPr>
        <p:spPr>
          <a:xfrm>
            <a:off x="4270248" y="2651760"/>
            <a:ext cx="3383280" cy="274320"/>
          </a:xfrm>
          <a:prstGeom prst="rect">
            <a:avLst/>
          </a:prstGeom>
          <a:noFill/>
        </p:spPr>
        <p:txBody>
          <a:bodyPr wrap="square">
            <a:spAutoFit/>
          </a:bodyPr>
          <a:lstStyle/>
          <a:p>
            <a:pPr algn="l"/>
            <a:r>
              <a:rPr sz="1100" b="0" i="0">
                <a:solidFill>
                  <a:srgbClr val="2D2D2D"/>
                </a:solidFill>
              </a:rPr>
              <a:t>  • NumPy / SciPy</a:t>
            </a:r>
          </a:p>
        </p:txBody>
      </p:sp>
      <p:sp>
        <p:nvSpPr>
          <p:cNvPr id="20" name="TextBox 19"/>
          <p:cNvSpPr txBox="1"/>
          <p:nvPr/>
        </p:nvSpPr>
        <p:spPr>
          <a:xfrm>
            <a:off x="4270248" y="2926080"/>
            <a:ext cx="3383280" cy="274320"/>
          </a:xfrm>
          <a:prstGeom prst="rect">
            <a:avLst/>
          </a:prstGeom>
          <a:noFill/>
        </p:spPr>
        <p:txBody>
          <a:bodyPr wrap="square">
            <a:spAutoFit/>
          </a:bodyPr>
          <a:lstStyle/>
          <a:p>
            <a:pPr algn="l"/>
            <a:r>
              <a:rPr sz="1100" b="0" i="0">
                <a:solidFill>
                  <a:srgbClr val="2D2D2D"/>
                </a:solidFill>
              </a:rPr>
              <a:t>  • Docker on Render</a:t>
            </a:r>
          </a:p>
        </p:txBody>
      </p:sp>
      <p:sp>
        <p:nvSpPr>
          <p:cNvPr id="21" name="Rectangle 20"/>
          <p:cNvSpPr/>
          <p:nvPr/>
        </p:nvSpPr>
        <p:spPr>
          <a:xfrm>
            <a:off x="7955279" y="1371600"/>
            <a:ext cx="3886200" cy="2194560"/>
          </a:xfrm>
          <a:prstGeom prst="rect">
            <a:avLst/>
          </a:prstGeom>
          <a:solidFill>
            <a:srgbClr val="FFFFFF"/>
          </a:solidFill>
          <a:ln w="19050">
            <a:solidFill>
              <a:srgbClr val="007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065007" y="1463040"/>
            <a:ext cx="3703320" cy="347472"/>
          </a:xfrm>
          <a:prstGeom prst="rect">
            <a:avLst/>
          </a:prstGeom>
          <a:noFill/>
        </p:spPr>
        <p:txBody>
          <a:bodyPr wrap="square">
            <a:spAutoFit/>
          </a:bodyPr>
          <a:lstStyle/>
          <a:p>
            <a:pPr algn="l"/>
            <a:r>
              <a:rPr sz="1400" b="1" i="0">
                <a:solidFill>
                  <a:srgbClr val="007A8A"/>
                </a:solidFill>
              </a:rPr>
              <a:t>🌐  Data Source</a:t>
            </a:r>
          </a:p>
        </p:txBody>
      </p:sp>
      <p:sp>
        <p:nvSpPr>
          <p:cNvPr id="23" name="TextBox 22"/>
          <p:cNvSpPr txBox="1"/>
          <p:nvPr/>
        </p:nvSpPr>
        <p:spPr>
          <a:xfrm>
            <a:off x="8065007" y="1828800"/>
            <a:ext cx="3703320" cy="274320"/>
          </a:xfrm>
          <a:prstGeom prst="rect">
            <a:avLst/>
          </a:prstGeom>
          <a:noFill/>
        </p:spPr>
        <p:txBody>
          <a:bodyPr wrap="square">
            <a:spAutoFit/>
          </a:bodyPr>
          <a:lstStyle/>
          <a:p>
            <a:pPr algn="l"/>
            <a:r>
              <a:rPr sz="1100" b="0" i="0">
                <a:solidFill>
                  <a:srgbClr val="2D2D2D"/>
                </a:solidFill>
              </a:rPr>
              <a:t>  • ECCC OGC API (live)</a:t>
            </a:r>
          </a:p>
        </p:txBody>
      </p:sp>
      <p:sp>
        <p:nvSpPr>
          <p:cNvPr id="24" name="TextBox 23"/>
          <p:cNvSpPr txBox="1"/>
          <p:nvPr/>
        </p:nvSpPr>
        <p:spPr>
          <a:xfrm>
            <a:off x="8065007" y="2103120"/>
            <a:ext cx="3703320" cy="274320"/>
          </a:xfrm>
          <a:prstGeom prst="rect">
            <a:avLst/>
          </a:prstGeom>
          <a:noFill/>
        </p:spPr>
        <p:txBody>
          <a:bodyPr wrap="square">
            <a:spAutoFit/>
          </a:bodyPr>
          <a:lstStyle/>
          <a:p>
            <a:pPr algn="l"/>
            <a:r>
              <a:rPr sz="1100" b="0" i="0">
                <a:solidFill>
                  <a:srgbClr val="2D2D2D"/>
                </a:solidFill>
              </a:rPr>
              <a:t>  • National HYDAT database</a:t>
            </a:r>
          </a:p>
        </p:txBody>
      </p:sp>
      <p:sp>
        <p:nvSpPr>
          <p:cNvPr id="25" name="TextBox 24"/>
          <p:cNvSpPr txBox="1"/>
          <p:nvPr/>
        </p:nvSpPr>
        <p:spPr>
          <a:xfrm>
            <a:off x="8065007" y="2377440"/>
            <a:ext cx="3703320" cy="274320"/>
          </a:xfrm>
          <a:prstGeom prst="rect">
            <a:avLst/>
          </a:prstGeom>
          <a:noFill/>
        </p:spPr>
        <p:txBody>
          <a:bodyPr wrap="square">
            <a:spAutoFit/>
          </a:bodyPr>
          <a:lstStyle/>
          <a:p>
            <a:pPr algn="l"/>
            <a:r>
              <a:rPr sz="1100" b="0" i="0">
                <a:solidFill>
                  <a:srgbClr val="2D2D2D"/>
                </a:solidFill>
              </a:rPr>
              <a:t>  • No local DB needed</a:t>
            </a:r>
          </a:p>
        </p:txBody>
      </p:sp>
      <p:sp>
        <p:nvSpPr>
          <p:cNvPr id="26" name="TextBox 25"/>
          <p:cNvSpPr txBox="1"/>
          <p:nvPr/>
        </p:nvSpPr>
        <p:spPr>
          <a:xfrm>
            <a:off x="8065007" y="2651760"/>
            <a:ext cx="3703320" cy="274320"/>
          </a:xfrm>
          <a:prstGeom prst="rect">
            <a:avLst/>
          </a:prstGeom>
          <a:noFill/>
        </p:spPr>
        <p:txBody>
          <a:bodyPr wrap="square">
            <a:spAutoFit/>
          </a:bodyPr>
          <a:lstStyle/>
          <a:p>
            <a:pPr algn="l"/>
            <a:r>
              <a:rPr sz="1100" b="0" i="0">
                <a:solidFill>
                  <a:srgbClr val="2D2D2D"/>
                </a:solidFill>
              </a:rPr>
              <a:t>  • Updated daily by WSC</a:t>
            </a:r>
          </a:p>
        </p:txBody>
      </p:sp>
      <p:sp>
        <p:nvSpPr>
          <p:cNvPr id="27" name="Rectangle 26"/>
          <p:cNvSpPr/>
          <p:nvPr/>
        </p:nvSpPr>
        <p:spPr>
          <a:xfrm>
            <a:off x="365760" y="3749039"/>
            <a:ext cx="3566160" cy="2286000"/>
          </a:xfrm>
          <a:prstGeom prst="rect">
            <a:avLst/>
          </a:prstGeom>
          <a:solidFill>
            <a:srgbClr val="FFFFFF"/>
          </a:solidFill>
          <a:ln w="19050">
            <a:solidFill>
              <a:srgbClr val="007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75488" y="3840479"/>
            <a:ext cx="3383280" cy="347472"/>
          </a:xfrm>
          <a:prstGeom prst="rect">
            <a:avLst/>
          </a:prstGeom>
          <a:noFill/>
        </p:spPr>
        <p:txBody>
          <a:bodyPr wrap="square">
            <a:spAutoFit/>
          </a:bodyPr>
          <a:lstStyle/>
          <a:p>
            <a:pPr algn="l"/>
            <a:r>
              <a:rPr sz="1400" b="1" i="0">
                <a:solidFill>
                  <a:srgbClr val="007A8A"/>
                </a:solidFill>
              </a:rPr>
              <a:t>☁️  Hosting</a:t>
            </a:r>
          </a:p>
        </p:txBody>
      </p:sp>
      <p:sp>
        <p:nvSpPr>
          <p:cNvPr id="29" name="TextBox 28"/>
          <p:cNvSpPr txBox="1"/>
          <p:nvPr/>
        </p:nvSpPr>
        <p:spPr>
          <a:xfrm>
            <a:off x="475488" y="4206239"/>
            <a:ext cx="3383280" cy="274320"/>
          </a:xfrm>
          <a:prstGeom prst="rect">
            <a:avLst/>
          </a:prstGeom>
          <a:noFill/>
        </p:spPr>
        <p:txBody>
          <a:bodyPr wrap="square">
            <a:spAutoFit/>
          </a:bodyPr>
          <a:lstStyle/>
          <a:p>
            <a:pPr algn="l"/>
            <a:r>
              <a:rPr sz="1100" b="0" i="0">
                <a:solidFill>
                  <a:srgbClr val="2D2D2D"/>
                </a:solidFill>
              </a:rPr>
              <a:t>  • Vercel (Next.js)</a:t>
            </a:r>
          </a:p>
        </p:txBody>
      </p:sp>
      <p:sp>
        <p:nvSpPr>
          <p:cNvPr id="30" name="TextBox 29"/>
          <p:cNvSpPr txBox="1"/>
          <p:nvPr/>
        </p:nvSpPr>
        <p:spPr>
          <a:xfrm>
            <a:off x="475488" y="4480559"/>
            <a:ext cx="3383280" cy="274320"/>
          </a:xfrm>
          <a:prstGeom prst="rect">
            <a:avLst/>
          </a:prstGeom>
          <a:noFill/>
        </p:spPr>
        <p:txBody>
          <a:bodyPr wrap="square">
            <a:spAutoFit/>
          </a:bodyPr>
          <a:lstStyle/>
          <a:p>
            <a:pPr algn="l"/>
            <a:r>
              <a:rPr sz="1100" b="0" i="0">
                <a:solidFill>
                  <a:srgbClr val="2D2D2D"/>
                </a:solidFill>
              </a:rPr>
              <a:t>  • Render (Python API)</a:t>
            </a:r>
          </a:p>
        </p:txBody>
      </p:sp>
      <p:sp>
        <p:nvSpPr>
          <p:cNvPr id="31" name="TextBox 30"/>
          <p:cNvSpPr txBox="1"/>
          <p:nvPr/>
        </p:nvSpPr>
        <p:spPr>
          <a:xfrm>
            <a:off x="475488" y="4754879"/>
            <a:ext cx="3383280" cy="274320"/>
          </a:xfrm>
          <a:prstGeom prst="rect">
            <a:avLst/>
          </a:prstGeom>
          <a:noFill/>
        </p:spPr>
        <p:txBody>
          <a:bodyPr wrap="square">
            <a:spAutoFit/>
          </a:bodyPr>
          <a:lstStyle/>
          <a:p>
            <a:pPr algn="l"/>
            <a:r>
              <a:rPr sz="1100" b="0" i="0">
                <a:solidFill>
                  <a:srgbClr val="2D2D2D"/>
                </a:solidFill>
              </a:rPr>
              <a:t>  • GitHub (source control)</a:t>
            </a:r>
          </a:p>
        </p:txBody>
      </p:sp>
      <p:sp>
        <p:nvSpPr>
          <p:cNvPr id="32" name="TextBox 31"/>
          <p:cNvSpPr txBox="1"/>
          <p:nvPr/>
        </p:nvSpPr>
        <p:spPr>
          <a:xfrm>
            <a:off x="475488" y="5029199"/>
            <a:ext cx="3383280" cy="274320"/>
          </a:xfrm>
          <a:prstGeom prst="rect">
            <a:avLst/>
          </a:prstGeom>
          <a:noFill/>
        </p:spPr>
        <p:txBody>
          <a:bodyPr wrap="square">
            <a:spAutoFit/>
          </a:bodyPr>
          <a:lstStyle/>
          <a:p>
            <a:pPr algn="l"/>
            <a:r>
              <a:rPr sz="1100" b="0" i="0">
                <a:solidFill>
                  <a:srgbClr val="2D2D2D"/>
                </a:solidFill>
              </a:rPr>
              <a:t>  • Free tier — $0/month</a:t>
            </a:r>
          </a:p>
        </p:txBody>
      </p:sp>
      <p:sp>
        <p:nvSpPr>
          <p:cNvPr id="33" name="Rectangle 32"/>
          <p:cNvSpPr/>
          <p:nvPr/>
        </p:nvSpPr>
        <p:spPr>
          <a:xfrm>
            <a:off x="4160520" y="3749039"/>
            <a:ext cx="3566160" cy="2286000"/>
          </a:xfrm>
          <a:prstGeom prst="rect">
            <a:avLst/>
          </a:prstGeom>
          <a:solidFill>
            <a:srgbClr val="FFFFFF"/>
          </a:solidFill>
          <a:ln w="19050">
            <a:solidFill>
              <a:srgbClr val="007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270248" y="3840479"/>
            <a:ext cx="3383280" cy="347472"/>
          </a:xfrm>
          <a:prstGeom prst="rect">
            <a:avLst/>
          </a:prstGeom>
          <a:noFill/>
        </p:spPr>
        <p:txBody>
          <a:bodyPr wrap="square">
            <a:spAutoFit/>
          </a:bodyPr>
          <a:lstStyle/>
          <a:p>
            <a:pPr algn="l"/>
            <a:r>
              <a:rPr sz="1400" b="1" i="0">
                <a:solidFill>
                  <a:srgbClr val="007A8A"/>
                </a:solidFill>
              </a:rPr>
              <a:t>🔒  Architecture</a:t>
            </a:r>
          </a:p>
        </p:txBody>
      </p:sp>
      <p:sp>
        <p:nvSpPr>
          <p:cNvPr id="35" name="TextBox 34"/>
          <p:cNvSpPr txBox="1"/>
          <p:nvPr/>
        </p:nvSpPr>
        <p:spPr>
          <a:xfrm>
            <a:off x="4270248" y="4206239"/>
            <a:ext cx="3383280" cy="274320"/>
          </a:xfrm>
          <a:prstGeom prst="rect">
            <a:avLst/>
          </a:prstGeom>
          <a:noFill/>
        </p:spPr>
        <p:txBody>
          <a:bodyPr wrap="square">
            <a:spAutoFit/>
          </a:bodyPr>
          <a:lstStyle/>
          <a:p>
            <a:pPr algn="l"/>
            <a:r>
              <a:rPr sz="1100" b="0" i="0">
                <a:solidFill>
                  <a:srgbClr val="2D2D2D"/>
                </a:solidFill>
              </a:rPr>
              <a:t>  • Server-side API proxy</a:t>
            </a:r>
          </a:p>
        </p:txBody>
      </p:sp>
      <p:sp>
        <p:nvSpPr>
          <p:cNvPr id="36" name="TextBox 35"/>
          <p:cNvSpPr txBox="1"/>
          <p:nvPr/>
        </p:nvSpPr>
        <p:spPr>
          <a:xfrm>
            <a:off x="4270248" y="4480559"/>
            <a:ext cx="3383280" cy="274320"/>
          </a:xfrm>
          <a:prstGeom prst="rect">
            <a:avLst/>
          </a:prstGeom>
          <a:noFill/>
        </p:spPr>
        <p:txBody>
          <a:bodyPr wrap="square">
            <a:spAutoFit/>
          </a:bodyPr>
          <a:lstStyle/>
          <a:p>
            <a:pPr algn="l"/>
            <a:r>
              <a:rPr sz="1100" b="0" i="0">
                <a:solidFill>
                  <a:srgbClr val="2D2D2D"/>
                </a:solidFill>
              </a:rPr>
              <a:t>  • No CORS exposure</a:t>
            </a:r>
          </a:p>
        </p:txBody>
      </p:sp>
      <p:sp>
        <p:nvSpPr>
          <p:cNvPr id="37" name="TextBox 36"/>
          <p:cNvSpPr txBox="1"/>
          <p:nvPr/>
        </p:nvSpPr>
        <p:spPr>
          <a:xfrm>
            <a:off x="4270248" y="4754879"/>
            <a:ext cx="3383280" cy="274320"/>
          </a:xfrm>
          <a:prstGeom prst="rect">
            <a:avLst/>
          </a:prstGeom>
          <a:noFill/>
        </p:spPr>
        <p:txBody>
          <a:bodyPr wrap="square">
            <a:spAutoFit/>
          </a:bodyPr>
          <a:lstStyle/>
          <a:p>
            <a:pPr algn="l"/>
            <a:r>
              <a:rPr sz="1100" b="0" i="0">
                <a:solidFill>
                  <a:srgbClr val="2D2D2D"/>
                </a:solidFill>
              </a:rPr>
              <a:t>  • Environment-variable secrets</a:t>
            </a:r>
          </a:p>
        </p:txBody>
      </p:sp>
      <p:sp>
        <p:nvSpPr>
          <p:cNvPr id="38" name="TextBox 37"/>
          <p:cNvSpPr txBox="1"/>
          <p:nvPr/>
        </p:nvSpPr>
        <p:spPr>
          <a:xfrm>
            <a:off x="4270248" y="5029199"/>
            <a:ext cx="3383280" cy="274320"/>
          </a:xfrm>
          <a:prstGeom prst="rect">
            <a:avLst/>
          </a:prstGeom>
          <a:noFill/>
        </p:spPr>
        <p:txBody>
          <a:bodyPr wrap="square">
            <a:spAutoFit/>
          </a:bodyPr>
          <a:lstStyle/>
          <a:p>
            <a:pPr algn="l"/>
            <a:r>
              <a:rPr sz="1100" b="0" i="0">
                <a:solidFill>
                  <a:srgbClr val="2D2D2D"/>
                </a:solidFill>
              </a:rPr>
              <a:t>  • Stateless — no user data stored</a:t>
            </a:r>
          </a:p>
        </p:txBody>
      </p:sp>
      <p:sp>
        <p:nvSpPr>
          <p:cNvPr id="39" name="Rectangle 38"/>
          <p:cNvSpPr/>
          <p:nvPr/>
        </p:nvSpPr>
        <p:spPr>
          <a:xfrm>
            <a:off x="7955279" y="3749039"/>
            <a:ext cx="3886200" cy="2286000"/>
          </a:xfrm>
          <a:prstGeom prst="rect">
            <a:avLst/>
          </a:prstGeom>
          <a:solidFill>
            <a:srgbClr val="FFFFFF"/>
          </a:solidFill>
          <a:ln w="19050">
            <a:solidFill>
              <a:srgbClr val="007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065007" y="3840479"/>
            <a:ext cx="3703320" cy="347472"/>
          </a:xfrm>
          <a:prstGeom prst="rect">
            <a:avLst/>
          </a:prstGeom>
          <a:noFill/>
        </p:spPr>
        <p:txBody>
          <a:bodyPr wrap="square">
            <a:spAutoFit/>
          </a:bodyPr>
          <a:lstStyle/>
          <a:p>
            <a:pPr algn="l"/>
            <a:r>
              <a:rPr sz="1400" b="1" i="0">
                <a:solidFill>
                  <a:srgbClr val="007A8A"/>
                </a:solidFill>
              </a:rPr>
              <a:t>📐  Analysis (client-side)</a:t>
            </a:r>
          </a:p>
        </p:txBody>
      </p:sp>
      <p:sp>
        <p:nvSpPr>
          <p:cNvPr id="41" name="TextBox 40"/>
          <p:cNvSpPr txBox="1"/>
          <p:nvPr/>
        </p:nvSpPr>
        <p:spPr>
          <a:xfrm>
            <a:off x="8065007" y="4206239"/>
            <a:ext cx="3703320" cy="274320"/>
          </a:xfrm>
          <a:prstGeom prst="rect">
            <a:avLst/>
          </a:prstGeom>
          <a:noFill/>
        </p:spPr>
        <p:txBody>
          <a:bodyPr wrap="square">
            <a:spAutoFit/>
          </a:bodyPr>
          <a:lstStyle/>
          <a:p>
            <a:pPr algn="l"/>
            <a:r>
              <a:rPr sz="1100" b="0" i="0">
                <a:solidFill>
                  <a:srgbClr val="2D2D2D"/>
                </a:solidFill>
              </a:rPr>
              <a:t>  • POT / GPD in TypeScript</a:t>
            </a:r>
          </a:p>
        </p:txBody>
      </p:sp>
      <p:sp>
        <p:nvSpPr>
          <p:cNvPr id="42" name="TextBox 41"/>
          <p:cNvSpPr txBox="1"/>
          <p:nvPr/>
        </p:nvSpPr>
        <p:spPr>
          <a:xfrm>
            <a:off x="8065007" y="4480559"/>
            <a:ext cx="3703320" cy="274320"/>
          </a:xfrm>
          <a:prstGeom prst="rect">
            <a:avLst/>
          </a:prstGeom>
          <a:noFill/>
        </p:spPr>
        <p:txBody>
          <a:bodyPr wrap="square">
            <a:spAutoFit/>
          </a:bodyPr>
          <a:lstStyle/>
          <a:p>
            <a:pPr algn="l"/>
            <a:r>
              <a:rPr sz="1100" b="0" i="0">
                <a:solidFill>
                  <a:srgbClr val="2D2D2D"/>
                </a:solidFill>
              </a:rPr>
              <a:t>  • Baseflow filters in TypeScript</a:t>
            </a:r>
          </a:p>
        </p:txBody>
      </p:sp>
      <p:sp>
        <p:nvSpPr>
          <p:cNvPr id="43" name="TextBox 42"/>
          <p:cNvSpPr txBox="1"/>
          <p:nvPr/>
        </p:nvSpPr>
        <p:spPr>
          <a:xfrm>
            <a:off x="8065007" y="4754879"/>
            <a:ext cx="3703320" cy="274320"/>
          </a:xfrm>
          <a:prstGeom prst="rect">
            <a:avLst/>
          </a:prstGeom>
          <a:noFill/>
        </p:spPr>
        <p:txBody>
          <a:bodyPr wrap="square">
            <a:spAutoFit/>
          </a:bodyPr>
          <a:lstStyle/>
          <a:p>
            <a:pPr algn="l"/>
            <a:r>
              <a:rPr sz="1100" b="0" i="0">
                <a:solidFill>
                  <a:srgbClr val="2D2D2D"/>
                </a:solidFill>
              </a:rPr>
              <a:t>  • Mann-Kendall in TypeScript</a:t>
            </a:r>
          </a:p>
        </p:txBody>
      </p:sp>
      <p:sp>
        <p:nvSpPr>
          <p:cNvPr id="44" name="TextBox 43"/>
          <p:cNvSpPr txBox="1"/>
          <p:nvPr/>
        </p:nvSpPr>
        <p:spPr>
          <a:xfrm>
            <a:off x="8065007" y="5029199"/>
            <a:ext cx="3703320" cy="274320"/>
          </a:xfrm>
          <a:prstGeom prst="rect">
            <a:avLst/>
          </a:prstGeom>
          <a:noFill/>
        </p:spPr>
        <p:txBody>
          <a:bodyPr wrap="square">
            <a:spAutoFit/>
          </a:bodyPr>
          <a:lstStyle/>
          <a:p>
            <a:pPr algn="l"/>
            <a:r>
              <a:rPr sz="1100" b="0" i="0">
                <a:solidFill>
                  <a:srgbClr val="2D2D2D"/>
                </a:solidFill>
              </a:rPr>
              <a:t>  • FFA distributions via Python API</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F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007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5760720"/>
            <a:ext cx="12188952" cy="1097280"/>
          </a:xfrm>
          <a:prstGeom prst="rect">
            <a:avLst/>
          </a:prstGeom>
          <a:solidFill>
            <a:srgbClr val="007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914400"/>
            <a:ext cx="10972800" cy="1097280"/>
          </a:xfrm>
          <a:prstGeom prst="rect">
            <a:avLst/>
          </a:prstGeom>
          <a:noFill/>
        </p:spPr>
        <p:txBody>
          <a:bodyPr wrap="square">
            <a:spAutoFit/>
          </a:bodyPr>
          <a:lstStyle/>
          <a:p>
            <a:pPr algn="ctr"/>
            <a:r>
              <a:rPr sz="4400" b="1" i="0">
                <a:solidFill>
                  <a:srgbClr val="FFFFFF"/>
                </a:solidFill>
              </a:rPr>
              <a:t>Try It Now</a:t>
            </a:r>
          </a:p>
        </p:txBody>
      </p:sp>
      <p:sp>
        <p:nvSpPr>
          <p:cNvPr id="6" name="TextBox 5"/>
          <p:cNvSpPr txBox="1"/>
          <p:nvPr/>
        </p:nvSpPr>
        <p:spPr>
          <a:xfrm>
            <a:off x="502920" y="2011680"/>
            <a:ext cx="10972800" cy="640080"/>
          </a:xfrm>
          <a:prstGeom prst="rect">
            <a:avLst/>
          </a:prstGeom>
          <a:noFill/>
        </p:spPr>
        <p:txBody>
          <a:bodyPr wrap="square">
            <a:spAutoFit/>
          </a:bodyPr>
          <a:lstStyle/>
          <a:p>
            <a:pPr algn="ctr"/>
            <a:r>
              <a:rPr sz="2000" b="0" i="1">
                <a:solidFill>
                  <a:srgbClr val="E0F4F7"/>
                </a:solidFill>
              </a:rPr>
              <a:t>The app is live — no login, no installation.</a:t>
            </a:r>
          </a:p>
        </p:txBody>
      </p:sp>
      <p:sp>
        <p:nvSpPr>
          <p:cNvPr id="7" name="Rectangle 6"/>
          <p:cNvSpPr/>
          <p:nvPr/>
        </p:nvSpPr>
        <p:spPr>
          <a:xfrm>
            <a:off x="3566160" y="2834640"/>
            <a:ext cx="5029200" cy="777240"/>
          </a:xfrm>
          <a:prstGeom prst="rect">
            <a:avLst/>
          </a:prstGeom>
          <a:solidFill>
            <a:srgbClr val="E86A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0" y="2880360"/>
            <a:ext cx="4846320" cy="685800"/>
          </a:xfrm>
          <a:prstGeom prst="rect">
            <a:avLst/>
          </a:prstGeom>
          <a:noFill/>
        </p:spPr>
        <p:txBody>
          <a:bodyPr wrap="square">
            <a:spAutoFit/>
          </a:bodyPr>
          <a:lstStyle/>
          <a:p>
            <a:pPr algn="ctr"/>
            <a:r>
              <a:rPr sz="2400" b="1" i="0">
                <a:solidFill>
                  <a:srgbClr val="FFFFFF"/>
                </a:solidFill>
              </a:rPr>
              <a:t>🌐  ws-cprep.vercel.app</a:t>
            </a:r>
          </a:p>
        </p:txBody>
      </p:sp>
      <p:sp>
        <p:nvSpPr>
          <p:cNvPr id="9" name="TextBox 8"/>
          <p:cNvSpPr txBox="1"/>
          <p:nvPr/>
        </p:nvSpPr>
        <p:spPr>
          <a:xfrm>
            <a:off x="1371600" y="3886200"/>
            <a:ext cx="9144000" cy="1097280"/>
          </a:xfrm>
          <a:prstGeom prst="rect">
            <a:avLst/>
          </a:prstGeom>
          <a:noFill/>
        </p:spPr>
        <p:txBody>
          <a:bodyPr wrap="square">
            <a:spAutoFit/>
          </a:bodyPr>
          <a:lstStyle/>
          <a:p>
            <a:pPr algn="ctr"/>
            <a:r>
              <a:rPr sz="1700" b="0" i="0">
                <a:solidFill>
                  <a:srgbClr val="FFFFFF"/>
                </a:solidFill>
              </a:rPr>
              <a:t>Search for any Canadian WSC station
and all analyses run instantly in your browser.</a:t>
            </a:r>
          </a:p>
        </p:txBody>
      </p:sp>
      <p:sp>
        <p:nvSpPr>
          <p:cNvPr id="10" name="TextBox 9"/>
          <p:cNvSpPr txBox="1"/>
          <p:nvPr/>
        </p:nvSpPr>
        <p:spPr>
          <a:xfrm>
            <a:off x="1371600" y="4892040"/>
            <a:ext cx="9144000" cy="502920"/>
          </a:xfrm>
          <a:prstGeom prst="rect">
            <a:avLst/>
          </a:prstGeom>
          <a:noFill/>
        </p:spPr>
        <p:txBody>
          <a:bodyPr wrap="square">
            <a:spAutoFit/>
          </a:bodyPr>
          <a:lstStyle/>
          <a:p>
            <a:pPr algn="ctr"/>
            <a:r>
              <a:rPr sz="1400" b="0" i="0">
                <a:solidFill>
                  <a:srgbClr val="E0F4F7"/>
                </a:solidFill>
              </a:rPr>
              <a:t>Source code:  github.com/adilch/WSCprep</a:t>
            </a:r>
          </a:p>
        </p:txBody>
      </p:sp>
      <p:sp>
        <p:nvSpPr>
          <p:cNvPr id="11" name="TextBox 10"/>
          <p:cNvSpPr txBox="1"/>
          <p:nvPr/>
        </p:nvSpPr>
        <p:spPr>
          <a:xfrm>
            <a:off x="274320" y="5806440"/>
            <a:ext cx="11612880" cy="548640"/>
          </a:xfrm>
          <a:prstGeom prst="rect">
            <a:avLst/>
          </a:prstGeom>
          <a:noFill/>
        </p:spPr>
        <p:txBody>
          <a:bodyPr wrap="square">
            <a:spAutoFit/>
          </a:bodyPr>
          <a:lstStyle/>
          <a:p>
            <a:pPr algn="ctr"/>
            <a:r>
              <a:rPr sz="1300" b="0" i="0">
                <a:solidFill>
                  <a:srgbClr val="FFFFFF"/>
                </a:solidFill>
              </a:rPr>
              <a:t>Data: Environment and Climate Change Canada · National Hydrometric Program · HYDAT database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9</TotalTime>
  <Words>1932</Words>
  <Application>Microsoft Office PowerPoint</Application>
  <PresentationFormat>Custom</PresentationFormat>
  <Paragraphs>231</Paragraphs>
  <Slides>12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Adil Javed</cp:lastModifiedBy>
  <cp:revision>1</cp:revision>
  <dcterms:created xsi:type="dcterms:W3CDTF">2013-01-27T09:14:16Z</dcterms:created>
  <dcterms:modified xsi:type="dcterms:W3CDTF">2026-06-07T07:23:11Z</dcterms:modified>
  <cp:category/>
</cp:coreProperties>
</file>